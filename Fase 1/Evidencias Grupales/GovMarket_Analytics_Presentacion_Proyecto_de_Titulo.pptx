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el nombre y la idea en una frase. El proyecto busca transformar información pública de compras estatales en inteligencia comercial útil para empresas tecnológicas.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la propuesta sin entrar todavía en módulos. El hilo conductor es centralizar, analizar y priorizar; esas tres acciones resumen el valor del sistema.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dolor central es la brecha entre disponibilidad y uso estratégico de los datos. La plataforma no pretende reemplazar Mercado Público; agrega una capa de análisis y priorización comercial.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brevemente la cadena actual. El problema se acumula: datos dispersos generan búsqueda manual, la búsqueda manual provoca detección tardía y la decisión termina siendo menos estratégica.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Enfatizar el diferenciador: la plataforma no solo muestra procesos, también contextualiza, compara y prioriza. El valor aparece cuando el dato se adapta al perfil comercial de la empresa.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el flujo de punta a punta. Cada etapa agrega valor: primero ordena, luego interpreta y finalmente entrega una salida accionable para el usuario.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que no existe un usuario genérico. Cada rol espera una decisión distinta; por eso el diseño debe considerar vistas y permisos diferenciados.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separación ayuda a controlar la complejidad. El módulo predictivo se mantiene como capacidad condicionada: primero debe demostrarse la viabilidad de los datos y del núcleo funcional.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 exclusiones son una fortaleza del proyecto porque muestran control de alcance. La primera versión apoya la decisión comercial, pero no administra ni ejecuta la postulación.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los módulos como una arquitectura funcional modular. Esta separación permite implementar por incrementos y reemplazar o mejorar componentes sin rehacer toda la solución.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es una arquitectura conceptual, no una decisión tecnológica cerrada. Su propósito es mostrar separación de responsabilidades, trazabilidad del dato y posibilidad de crecimiento futuro.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la coherencia del marco académico: el problema origina la hipótesis; la pregunta orienta el desarrollo; el objetivo general define el producto que se debe construir y evaluar.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siete objetivos del documento se agrupan aquí en cinco frentes para facilitar la exposición. La validación no debe limitarse a verificar que el software funciona; debe medir si mejora la identificación y priorización de oportunidades.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metodología es una propuesta para la etapa siguiente. El ciclo permite validar temprano los datos y los usuarios antes de invertir en componentes más complejos.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riesgos más relevantes están en los datos y en el alcance, no solo en la programación. La mitigación principal es validar temprano y mantener el módulo predictivo subordinado al núcleo del producto.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Aclarar que el roadmap es una visión de evolución y no compromete todo el alcance del proyecto de título. La V1 debe generar evidencia antes de avanzar a expansión, comercialización o IA avanzada.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resolviendo la pregunta inicial: el proyecto es viable si mantiene el foco del MVP y valida la disponibilidad de datos y la utilidad para los usuarios. Abrir espacio para preguntas del profesor.</a:t>
            </a:r>
          </a:p>
          <a:p>
            <a:endParaRPr/>
          </a:p>
          <a:p>
            <a:r>
              <a:t>[Sources]</a:t>
            </a:r>
          </a:p>
          <a:p>
            <a:r>
              <a:t>- Documento base: "1. Inicio y definición estratégica del proyecto.docx" (elaboración propia, 2026).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6A8D2CB8-E4F9-4D79-9B6D-26695582DE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9A7A0"/>
          </a:solidFill>
          <a:ln w="0">
            <a:noFill/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1676FF9-B77B-4D33-ADE6-7643B830E88C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PROYECTO DE TÍTULO · 2026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44576BD-D808-4117-AFB1-4A52C9743BF8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59055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5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GovMarket</a:t>
            </a:r>
          </a:p>
          <a:p>
            <a:pPr algn="l">
              <a:lnSpc>
                <a:spcPct val="90000"/>
              </a:lnSpc>
              <a:buNone/>
              <a:defRPr sz="5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ECB2876-FE7D-46E1-9928-333219953F0A}"/>
              </a:ext>
            </a:extLst>
          </p:cNvPr>
          <p:cNvSpPr>
            <a:spLocks noGrp="1"/>
          </p:cNvSpPr>
          <p:nvPr/>
        </p:nvSpPr>
        <p:spPr>
          <a:xfrm>
            <a:off x="685800" y="3314700"/>
            <a:ext cx="58102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Plataforma de inteligencia comercial para identificar y priorizar oportunidades TI en Mercado Público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D7A9186-229E-4CAD-97EB-F38C7DE713E4}"/>
              </a:ext>
            </a:extLst>
          </p:cNvPr>
          <p:cNvSpPr>
            <a:spLocks noGrp="1"/>
          </p:cNvSpPr>
          <p:nvPr/>
        </p:nvSpPr>
        <p:spPr>
          <a:xfrm>
            <a:off x="685800" y="5448300"/>
            <a:ext cx="3810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Franco </a:t>
            </a:r>
            <a:r>
              <a:rPr sz="1650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Beniscelli</a:t>
            </a:r>
            <a:endParaRPr lang="es-419" sz="1650" b="1" dirty="0">
              <a:solidFill>
                <a:srgbClr val="102A43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lang="es-419" sz="1650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Tiare Saavedra</a:t>
            </a:r>
            <a:endParaRPr sz="1650" b="1" dirty="0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E63A4F6-818B-472D-9A12-9C5B7D8DF23D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947"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Presentación ante profesor de proyecto de título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B891AA8-4392-4F64-8298-579BEFD3B72A}"/>
              </a:ext>
            </a:extLst>
          </p:cNvPr>
          <p:cNvSpPr>
            <a:spLocks noGrp="1"/>
          </p:cNvSpPr>
          <p:nvPr/>
        </p:nvSpPr>
        <p:spPr>
          <a:xfrm>
            <a:off x="7372350" y="0"/>
            <a:ext cx="4819650" cy="6858000"/>
          </a:xfrm>
          <a:prstGeom prst="rect">
            <a:avLst/>
          </a:prstGeom>
          <a:solidFill>
            <a:srgbClr val="0B3558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B362940-F6CE-49FF-9360-FA439E7C4EB2}"/>
              </a:ext>
            </a:extLst>
          </p:cNvPr>
          <p:cNvSpPr>
            <a:spLocks noGrp="1"/>
          </p:cNvSpPr>
          <p:nvPr/>
        </p:nvSpPr>
        <p:spPr>
          <a:xfrm>
            <a:off x="7905750" y="1028700"/>
            <a:ext cx="3238500" cy="95250"/>
          </a:xfrm>
          <a:prstGeom prst="rect">
            <a:avLst/>
          </a:prstGeom>
          <a:solidFill>
            <a:srgbClr val="19A7A0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F87B4EF-E0A9-4363-8129-C9D75CF1F761}"/>
              </a:ext>
            </a:extLst>
          </p:cNvPr>
          <p:cNvSpPr>
            <a:spLocks noGrp="1"/>
          </p:cNvSpPr>
          <p:nvPr/>
        </p:nvSpPr>
        <p:spPr>
          <a:xfrm>
            <a:off x="7905750" y="14668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9FD8E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9FD8EF"/>
                </a:solidFill>
                <a:latin typeface="Arial"/>
                <a:ea typeface="Arial"/>
                <a:cs typeface="Arial"/>
              </a:rPr>
              <a:t>DATOS PÚBLICOS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32B06B8-6CD7-428E-858A-21836958F0A9}"/>
              </a:ext>
            </a:extLst>
          </p:cNvPr>
          <p:cNvSpPr>
            <a:spLocks noGrp="1"/>
          </p:cNvSpPr>
          <p:nvPr/>
        </p:nvSpPr>
        <p:spPr>
          <a:xfrm>
            <a:off x="7905750" y="2000250"/>
            <a:ext cx="76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575"/>
          </a:bodyPr>
          <a:lstStyle/>
          <a:p>
            <a:pPr algn="l">
              <a:lnSpc>
                <a:spcPct val="105000"/>
              </a:lnSpc>
              <a:buNone/>
              <a:defRPr sz="3900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46670C8-444C-4B20-9CCA-6CFCDDEFB0ED}"/>
              </a:ext>
            </a:extLst>
          </p:cNvPr>
          <p:cNvSpPr>
            <a:spLocks noGrp="1"/>
          </p:cNvSpPr>
          <p:nvPr/>
        </p:nvSpPr>
        <p:spPr>
          <a:xfrm>
            <a:off x="7905750" y="2686050"/>
            <a:ext cx="342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INFORMACIÓN</a:t>
            </a:r>
          </a:p>
          <a:p>
            <a:pPr algn="l">
              <a:lnSpc>
                <a:spcPct val="95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ESTRATÉGICA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A00BD3A-B876-4B72-99B1-650954197A0A}"/>
              </a:ext>
            </a:extLst>
          </p:cNvPr>
          <p:cNvSpPr>
            <a:spLocks noGrp="1"/>
          </p:cNvSpPr>
          <p:nvPr/>
        </p:nvSpPr>
        <p:spPr>
          <a:xfrm>
            <a:off x="7905750" y="3857625"/>
            <a:ext cx="76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575"/>
          </a:bodyPr>
          <a:lstStyle/>
          <a:p>
            <a:pPr algn="l">
              <a:lnSpc>
                <a:spcPct val="105000"/>
              </a:lnSpc>
              <a:buNone/>
              <a:defRPr sz="3900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6417771-FAE2-4791-AC09-812B1228453F}"/>
              </a:ext>
            </a:extLst>
          </p:cNvPr>
          <p:cNvSpPr>
            <a:spLocks noGrp="1"/>
          </p:cNvSpPr>
          <p:nvPr/>
        </p:nvSpPr>
        <p:spPr>
          <a:xfrm>
            <a:off x="7905750" y="4572000"/>
            <a:ext cx="342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DECISIONES</a:t>
            </a:r>
          </a:p>
          <a:p>
            <a:pPr algn="l">
              <a:lnSpc>
                <a:spcPct val="95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COMERCIALES</a:t>
            </a:r>
          </a:p>
        </p:txBody>
      </p:sp>
    </p:spTree>
    <p:extLst>
      <p:ext uri="{BB962C8B-B14F-4D97-AF65-F5344CB8AC3E}">
        <p14:creationId xmlns:p14="http://schemas.microsoft.com/office/powerpoint/2010/main" val="1349976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FA56624D-3E9E-46E3-AF4F-F308B54F54B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8664A9-72F3-489A-9141-B7E776165F05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Datos públicos para decisiones comerciales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6082A73-DD70-4551-9603-737833C71D4A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9F91EB9-7525-4C9D-B189-1CCBD3262921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CCA9B70-28B5-4F41-BF1D-9DB6C03F7E9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7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GovMarket Analytics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51E1A1-8AD3-4044-83FF-B4E4EC68716A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59055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es una plataforma web que reúne, procesa y analiza información de Mercado Público para ayudar a empresas TI a detectar oportunidades relevantes con mayor anticipación.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B6A09D-2AD4-4CCC-A57B-6BD67095B462}"/>
              </a:ext>
            </a:extLst>
          </p:cNvPr>
          <p:cNvSpPr>
            <a:spLocks noGrp="1"/>
          </p:cNvSpPr>
          <p:nvPr/>
        </p:nvSpPr>
        <p:spPr>
          <a:xfrm>
            <a:off x="7219950" y="1885950"/>
            <a:ext cx="76200" cy="3333750"/>
          </a:xfrm>
          <a:prstGeom prst="rect">
            <a:avLst/>
          </a:prstGeom>
          <a:solidFill>
            <a:srgbClr val="19A7A0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359634-D084-4235-ABDD-CAEE9FE01FE4}"/>
              </a:ext>
            </a:extLst>
          </p:cNvPr>
          <p:cNvSpPr>
            <a:spLocks noGrp="1"/>
          </p:cNvSpPr>
          <p:nvPr/>
        </p:nvSpPr>
        <p:spPr>
          <a:xfrm>
            <a:off x="7715250" y="18669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CENTRALIZAR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8208C4C-270B-4A12-929E-F3C50A781AFB}"/>
              </a:ext>
            </a:extLst>
          </p:cNvPr>
          <p:cNvSpPr>
            <a:spLocks noGrp="1"/>
          </p:cNvSpPr>
          <p:nvPr/>
        </p:nvSpPr>
        <p:spPr>
          <a:xfrm>
            <a:off x="7715250" y="2266950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Licitaciones, adjudicaciones y órdenes de compra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39FAB9B-2216-4CB0-9449-985C10AE3502}"/>
              </a:ext>
            </a:extLst>
          </p:cNvPr>
          <p:cNvSpPr>
            <a:spLocks noGrp="1"/>
          </p:cNvSpPr>
          <p:nvPr/>
        </p:nvSpPr>
        <p:spPr>
          <a:xfrm>
            <a:off x="7715250" y="31051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ANALIZAR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0F04695-873F-4259-8050-325EAA06EF8E}"/>
              </a:ext>
            </a:extLst>
          </p:cNvPr>
          <p:cNvSpPr>
            <a:spLocks noGrp="1"/>
          </p:cNvSpPr>
          <p:nvPr/>
        </p:nvSpPr>
        <p:spPr>
          <a:xfrm>
            <a:off x="7715250" y="3505200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Indicadores, patrones y tendencias históricas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213055F-EE8A-491B-A5EA-F04605040111}"/>
              </a:ext>
            </a:extLst>
          </p:cNvPr>
          <p:cNvSpPr>
            <a:spLocks noGrp="1"/>
          </p:cNvSpPr>
          <p:nvPr/>
        </p:nvSpPr>
        <p:spPr>
          <a:xfrm>
            <a:off x="7715250" y="43434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PRIORIZAR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0849E31-C2E7-468F-BCDA-64815856BE4E}"/>
              </a:ext>
            </a:extLst>
          </p:cNvPr>
          <p:cNvSpPr>
            <a:spLocks noGrp="1"/>
          </p:cNvSpPr>
          <p:nvPr/>
        </p:nvSpPr>
        <p:spPr>
          <a:xfrm>
            <a:off x="7715250" y="4743450"/>
            <a:ext cx="3476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Oportunidades compatibles con el perfil de empresa</a:t>
            </a:r>
          </a:p>
        </p:txBody>
      </p:sp>
    </p:spTree>
    <p:extLst>
      <p:ext uri="{BB962C8B-B14F-4D97-AF65-F5344CB8AC3E}">
        <p14:creationId xmlns:p14="http://schemas.microsoft.com/office/powerpoint/2010/main" val="745138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42197CB0-5479-41B2-A821-80605B08AFE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46ADDC6-19F7-49C3-A5BC-DD6791654C36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desafío es convertir datos en inteligencia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C2A4956-3297-425A-ABA8-F7C130DAAAD7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A5486D0-48D9-440E-8F7D-0C8643C10335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9E8707A-15A1-4377-80D0-9776FEEF73A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953000" cy="3714750"/>
          </a:xfrm>
          <a:prstGeom prst="rect">
            <a:avLst/>
          </a:prstGeom>
          <a:solidFill>
            <a:srgbClr val="0B3558"/>
          </a:solidFill>
          <a:ln w="0">
            <a:noFill/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4288BAF-D332-4C93-8AE2-AFA7EBB1B006}"/>
              </a:ext>
            </a:extLst>
          </p:cNvPr>
          <p:cNvSpPr>
            <a:spLocks noGrp="1"/>
          </p:cNvSpPr>
          <p:nvPr/>
        </p:nvSpPr>
        <p:spPr>
          <a:xfrm>
            <a:off x="990600" y="2286000"/>
            <a:ext cx="4191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información existe, pero su revisión sigue siendo manual, dispersa y reactiva.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0D468F3-283D-47D4-83D1-50543BD9973D}"/>
              </a:ext>
            </a:extLst>
          </p:cNvPr>
          <p:cNvSpPr>
            <a:spLocks noGrp="1"/>
          </p:cNvSpPr>
          <p:nvPr/>
        </p:nvSpPr>
        <p:spPr>
          <a:xfrm>
            <a:off x="990600" y="48768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9FD8E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9FD8EF"/>
                </a:solidFill>
                <a:latin typeface="Arial"/>
                <a:ea typeface="Arial"/>
                <a:cs typeface="Arial"/>
              </a:rPr>
              <a:t>Brecha detectada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6C9ED93-FD41-467D-97F0-0F279AB7FEB6}"/>
              </a:ext>
            </a:extLst>
          </p:cNvPr>
          <p:cNvSpPr>
            <a:spLocks noGrp="1"/>
          </p:cNvSpPr>
          <p:nvPr/>
        </p:nvSpPr>
        <p:spPr>
          <a:xfrm>
            <a:off x="6191250" y="18669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C751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5146"/>
                </a:solidFill>
                <a:latin typeface="Arial"/>
                <a:ea typeface="Arial"/>
                <a:cs typeface="Arial"/>
              </a:rPr>
              <a:t>IMPACTOS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2726222-6408-4AED-95E4-A765BB089E29}"/>
              </a:ext>
            </a:extLst>
          </p:cNvPr>
          <p:cNvSpPr>
            <a:spLocks noGrp="1"/>
          </p:cNvSpPr>
          <p:nvPr/>
        </p:nvSpPr>
        <p:spPr>
          <a:xfrm>
            <a:off x="6191250" y="2305050"/>
            <a:ext cx="485775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l">
              <a:lnSpc>
                <a:spcPct val="105000"/>
              </a:lnSpc>
              <a:spcAft>
                <a:spcPts val="8"/>
              </a:spcAft>
              <a:buNone/>
              <a:defRPr sz="15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Tiempo: </a:t>
            </a:r>
            <a:r>
              <a:rPr sz="1575">
                <a:solidFill>
                  <a:srgbClr val="102A43"/>
                </a:solidFill>
                <a:latin typeface="Arial"/>
                <a:ea typeface="Arial"/>
                <a:cs typeface="Arial"/>
              </a:rPr>
              <a:t>revisión constante de múltiples procesos.</a:t>
            </a:r>
          </a:p>
          <a:p>
            <a:pPr marL="24" indent="-14" algn="l">
              <a:lnSpc>
                <a:spcPct val="105000"/>
              </a:lnSpc>
              <a:spcAft>
                <a:spcPts val="8"/>
              </a:spcAft>
              <a:buNone/>
              <a:defRPr sz="15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Oportunidades: </a:t>
            </a:r>
            <a:r>
              <a:rPr sz="1575">
                <a:solidFill>
                  <a:srgbClr val="102A43"/>
                </a:solidFill>
                <a:latin typeface="Arial"/>
                <a:ea typeface="Arial"/>
                <a:cs typeface="Arial"/>
              </a:rPr>
              <a:t>detección tardía o pérdida de licitaciones relevantes.</a:t>
            </a:r>
          </a:p>
          <a:p>
            <a:pPr marL="24" indent="-14" algn="l">
              <a:lnSpc>
                <a:spcPct val="105000"/>
              </a:lnSpc>
              <a:spcAft>
                <a:spcPts val="8"/>
              </a:spcAft>
              <a:buNone/>
              <a:defRPr sz="15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Análisis: </a:t>
            </a:r>
            <a:r>
              <a:rPr sz="1575">
                <a:solidFill>
                  <a:srgbClr val="102A43"/>
                </a:solidFill>
                <a:latin typeface="Arial"/>
                <a:ea typeface="Arial"/>
                <a:cs typeface="Arial"/>
              </a:rPr>
              <a:t>bajo uso de información histórica y estacionalidad.</a:t>
            </a:r>
          </a:p>
          <a:p>
            <a:pPr marL="24" indent="-14" algn="l">
              <a:lnSpc>
                <a:spcPct val="105000"/>
              </a:lnSpc>
              <a:spcAft>
                <a:spcPts val="8"/>
              </a:spcAft>
              <a:buNone/>
              <a:defRPr sz="15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Decisión: </a:t>
            </a:r>
            <a:r>
              <a:rPr sz="1575">
                <a:solidFill>
                  <a:srgbClr val="102A43"/>
                </a:solidFill>
                <a:latin typeface="Arial"/>
                <a:ea typeface="Arial"/>
                <a:cs typeface="Arial"/>
              </a:rPr>
              <a:t>priorización basada en intuición más que en evidencia.</a:t>
            </a:r>
          </a:p>
          <a:p>
            <a:pPr marL="24" indent="-14" algn="l">
              <a:lnSpc>
                <a:spcPct val="105000"/>
              </a:lnSpc>
              <a:spcAft>
                <a:spcPts val="8"/>
              </a:spcAft>
              <a:buNone/>
              <a:defRPr sz="1575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Anticipación: </a:t>
            </a:r>
            <a:r>
              <a:rPr sz="1575">
                <a:solidFill>
                  <a:srgbClr val="102A43"/>
                </a:solidFill>
                <a:latin typeface="Arial"/>
                <a:ea typeface="Arial"/>
                <a:cs typeface="Arial"/>
              </a:rPr>
              <a:t>poca preparación frente a futuras demandas del Estado.</a:t>
            </a:r>
          </a:p>
        </p:txBody>
      </p:sp>
    </p:spTree>
    <p:extLst>
      <p:ext uri="{BB962C8B-B14F-4D97-AF65-F5344CB8AC3E}">
        <p14:creationId xmlns:p14="http://schemas.microsoft.com/office/powerpoint/2010/main" val="18665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CA1DD98D-D23A-471E-AE14-5AC6A76A411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SITUACIÓN ACTUAL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C463A35-A10F-4D43-B806-EC574AAB9D3C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 búsqueda manual limita la anticipación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2691562-E61D-4B00-A5EE-F9461912DF3A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1CBB982-6A93-4552-8A5A-381952EA7865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57A85A84-4A6C-4EE8-B00E-2CAA9571EB47}"/>
              </a:ext>
            </a:extLst>
          </p:cNvPr>
          <p:cNvSpPr>
            <a:spLocks noGrp="1"/>
          </p:cNvSpPr>
          <p:nvPr/>
        </p:nvSpPr>
        <p:spPr>
          <a:xfrm>
            <a:off x="2286000" y="2781300"/>
            <a:ext cx="552450" cy="323850"/>
          </a:xfrm>
          <a:prstGeom prst="rightArrow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1F52AC43-B263-4CA4-B0E9-E4AC0FE88029}"/>
              </a:ext>
            </a:extLst>
          </p:cNvPr>
          <p:cNvSpPr>
            <a:spLocks noGrp="1"/>
          </p:cNvSpPr>
          <p:nvPr/>
        </p:nvSpPr>
        <p:spPr>
          <a:xfrm>
            <a:off x="4495800" y="2781300"/>
            <a:ext cx="552450" cy="323850"/>
          </a:xfrm>
          <a:prstGeom prst="rightArrow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0075ADC5-D28D-47ED-9990-2A91F6E781A3}"/>
              </a:ext>
            </a:extLst>
          </p:cNvPr>
          <p:cNvSpPr>
            <a:spLocks noGrp="1"/>
          </p:cNvSpPr>
          <p:nvPr/>
        </p:nvSpPr>
        <p:spPr>
          <a:xfrm>
            <a:off x="6705600" y="2781300"/>
            <a:ext cx="552450" cy="323850"/>
          </a:xfrm>
          <a:prstGeom prst="rightArrow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A3B3CAC4-CE29-4960-A97E-F49D27DCD833}"/>
              </a:ext>
            </a:extLst>
          </p:cNvPr>
          <p:cNvSpPr>
            <a:spLocks noGrp="1"/>
          </p:cNvSpPr>
          <p:nvPr/>
        </p:nvSpPr>
        <p:spPr>
          <a:xfrm>
            <a:off x="8915400" y="2781300"/>
            <a:ext cx="552450" cy="323850"/>
          </a:xfrm>
          <a:prstGeom prst="rightArrow">
            <a:avLst/>
          </a:prstGeom>
          <a:solidFill>
            <a:srgbClr val="C75146"/>
          </a:solidFill>
          <a:ln w="0">
            <a:noFill/>
            <a:prstDash val="solid"/>
          </a:ln>
        </p:spPr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840174E-6341-4C36-A880-49BC6AA55087}"/>
              </a:ext>
            </a:extLst>
          </p:cNvPr>
          <p:cNvSpPr>
            <a:spLocks noGrp="1"/>
          </p:cNvSpPr>
          <p:nvPr/>
        </p:nvSpPr>
        <p:spPr>
          <a:xfrm>
            <a:off x="1219200" y="1885950"/>
            <a:ext cx="438150" cy="438150"/>
          </a:xfrm>
          <a:prstGeom prst="ellipse">
            <a:avLst/>
          </a:prstGeom>
          <a:solidFill>
            <a:srgbClr val="1769AA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D2600DD-55E0-42AC-8CB2-C1B55366C3BA}"/>
              </a:ext>
            </a:extLst>
          </p:cNvPr>
          <p:cNvSpPr>
            <a:spLocks noGrp="1"/>
          </p:cNvSpPr>
          <p:nvPr/>
        </p:nvSpPr>
        <p:spPr>
          <a:xfrm>
            <a:off x="647700" y="2533650"/>
            <a:ext cx="1695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Información</a:t>
            </a:r>
          </a:p>
          <a:p>
            <a:pPr algn="ctr">
              <a:lnSpc>
                <a:spcPct val="9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dispersa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24A7868-E024-4F2E-A29D-F0C4C0C750AA}"/>
              </a:ext>
            </a:extLst>
          </p:cNvPr>
          <p:cNvSpPr>
            <a:spLocks noGrp="1"/>
          </p:cNvSpPr>
          <p:nvPr/>
        </p:nvSpPr>
        <p:spPr>
          <a:xfrm>
            <a:off x="647700" y="3476625"/>
            <a:ext cx="1695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Datos disponibles en distintas consultas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5662A90-360D-48D7-94BF-1BD8B7BE815B}"/>
              </a:ext>
            </a:extLst>
          </p:cNvPr>
          <p:cNvSpPr>
            <a:spLocks noGrp="1"/>
          </p:cNvSpPr>
          <p:nvPr/>
        </p:nvSpPr>
        <p:spPr>
          <a:xfrm>
            <a:off x="3429000" y="1885950"/>
            <a:ext cx="438150" cy="438150"/>
          </a:xfrm>
          <a:prstGeom prst="ellipse">
            <a:avLst/>
          </a:prstGeom>
          <a:solidFill>
            <a:srgbClr val="1769AA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A4F52A6-626F-480C-B277-9F64AF98CE9C}"/>
              </a:ext>
            </a:extLst>
          </p:cNvPr>
          <p:cNvSpPr>
            <a:spLocks noGrp="1"/>
          </p:cNvSpPr>
          <p:nvPr/>
        </p:nvSpPr>
        <p:spPr>
          <a:xfrm>
            <a:off x="2857500" y="2533650"/>
            <a:ext cx="1695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Búsqueda</a:t>
            </a:r>
          </a:p>
          <a:p>
            <a:pPr algn="ctr">
              <a:lnSpc>
                <a:spcPct val="9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manual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3B56A72-11DB-464C-8E4A-CF628F475658}"/>
              </a:ext>
            </a:extLst>
          </p:cNvPr>
          <p:cNvSpPr>
            <a:spLocks noGrp="1"/>
          </p:cNvSpPr>
          <p:nvPr/>
        </p:nvSpPr>
        <p:spPr>
          <a:xfrm>
            <a:off x="2857500" y="3476625"/>
            <a:ext cx="1695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Filtros y revisión uno a uno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2C233995-AF2E-4010-B64E-50ABFB10BF85}"/>
              </a:ext>
            </a:extLst>
          </p:cNvPr>
          <p:cNvSpPr>
            <a:spLocks noGrp="1"/>
          </p:cNvSpPr>
          <p:nvPr/>
        </p:nvSpPr>
        <p:spPr>
          <a:xfrm>
            <a:off x="5638800" y="1885950"/>
            <a:ext cx="438150" cy="438150"/>
          </a:xfrm>
          <a:prstGeom prst="ellipse">
            <a:avLst/>
          </a:prstGeom>
          <a:solidFill>
            <a:srgbClr val="1769AA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A49759F-C35A-468A-A755-F0BD6BB29037}"/>
              </a:ext>
            </a:extLst>
          </p:cNvPr>
          <p:cNvSpPr>
            <a:spLocks noGrp="1"/>
          </p:cNvSpPr>
          <p:nvPr/>
        </p:nvSpPr>
        <p:spPr>
          <a:xfrm>
            <a:off x="5067300" y="2533650"/>
            <a:ext cx="1695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Detección</a:t>
            </a:r>
          </a:p>
          <a:p>
            <a:pPr algn="ctr">
              <a:lnSpc>
                <a:spcPct val="9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tardía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094F15C-B2A0-4019-AF6A-659265D66E2C}"/>
              </a:ext>
            </a:extLst>
          </p:cNvPr>
          <p:cNvSpPr>
            <a:spLocks noGrp="1"/>
          </p:cNvSpPr>
          <p:nvPr/>
        </p:nvSpPr>
        <p:spPr>
          <a:xfrm>
            <a:off x="5067300" y="3476625"/>
            <a:ext cx="1695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La licitación ya está publicada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8979BB7-A3FD-4F6C-A8E0-5DE47CE49C3E}"/>
              </a:ext>
            </a:extLst>
          </p:cNvPr>
          <p:cNvSpPr>
            <a:spLocks noGrp="1"/>
          </p:cNvSpPr>
          <p:nvPr/>
        </p:nvSpPr>
        <p:spPr>
          <a:xfrm>
            <a:off x="7848600" y="1885950"/>
            <a:ext cx="438150" cy="438150"/>
          </a:xfrm>
          <a:prstGeom prst="ellipse">
            <a:avLst/>
          </a:prstGeom>
          <a:solidFill>
            <a:srgbClr val="1769AA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B0715E7-ECFB-485E-8631-257086A3BEB1}"/>
              </a:ext>
            </a:extLst>
          </p:cNvPr>
          <p:cNvSpPr>
            <a:spLocks noGrp="1"/>
          </p:cNvSpPr>
          <p:nvPr/>
        </p:nvSpPr>
        <p:spPr>
          <a:xfrm>
            <a:off x="7277100" y="2533650"/>
            <a:ext cx="1695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Evaluación</a:t>
            </a:r>
          </a:p>
          <a:p>
            <a:pPr algn="ctr">
              <a:lnSpc>
                <a:spcPct val="9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intuitiva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96CDFF1-D5A6-4A86-A2DF-E504CFC173A7}"/>
              </a:ext>
            </a:extLst>
          </p:cNvPr>
          <p:cNvSpPr>
            <a:spLocks noGrp="1"/>
          </p:cNvSpPr>
          <p:nvPr/>
        </p:nvSpPr>
        <p:spPr>
          <a:xfrm>
            <a:off x="7277100" y="3476625"/>
            <a:ext cx="1695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Sin ranking ni contexto histórico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F2295F99-843E-43CC-8E0E-D6EE3F8DB348}"/>
              </a:ext>
            </a:extLst>
          </p:cNvPr>
          <p:cNvSpPr>
            <a:spLocks noGrp="1"/>
          </p:cNvSpPr>
          <p:nvPr/>
        </p:nvSpPr>
        <p:spPr>
          <a:xfrm>
            <a:off x="10058400" y="1885950"/>
            <a:ext cx="438150" cy="438150"/>
          </a:xfrm>
          <a:prstGeom prst="ellipse">
            <a:avLst/>
          </a:prstGeom>
          <a:solidFill>
            <a:srgbClr val="C75146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4184D4B-E31F-4E4D-83A4-42BCE4B949F7}"/>
              </a:ext>
            </a:extLst>
          </p:cNvPr>
          <p:cNvSpPr>
            <a:spLocks noGrp="1"/>
          </p:cNvSpPr>
          <p:nvPr/>
        </p:nvSpPr>
        <p:spPr>
          <a:xfrm>
            <a:off x="9486900" y="2533650"/>
            <a:ext cx="1695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95000"/>
              </a:lnSpc>
              <a:buNone/>
              <a:defRPr sz="1800" b="1">
                <a:solidFill>
                  <a:srgbClr val="C751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5146"/>
                </a:solidFill>
                <a:latin typeface="Arial"/>
                <a:ea typeface="Arial"/>
                <a:cs typeface="Arial"/>
              </a:rPr>
              <a:t>Oportunidad</a:t>
            </a:r>
          </a:p>
          <a:p>
            <a:pPr algn="ctr">
              <a:lnSpc>
                <a:spcPct val="95000"/>
              </a:lnSpc>
              <a:buNone/>
              <a:defRPr sz="1800" b="1">
                <a:solidFill>
                  <a:srgbClr val="C751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5146"/>
                </a:solidFill>
                <a:latin typeface="Arial"/>
                <a:ea typeface="Arial"/>
                <a:cs typeface="Arial"/>
              </a:rPr>
              <a:t>perdida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E9722EC-D3F6-4995-9BA9-F511AE90F196}"/>
              </a:ext>
            </a:extLst>
          </p:cNvPr>
          <p:cNvSpPr>
            <a:spLocks noGrp="1"/>
          </p:cNvSpPr>
          <p:nvPr/>
        </p:nvSpPr>
        <p:spPr>
          <a:xfrm>
            <a:off x="9486900" y="3476625"/>
            <a:ext cx="1695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Menor capacidad de preparación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7818DCA-3B53-4DB2-A768-269BD151A001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10972800" cy="647700"/>
          </a:xfrm>
          <a:prstGeom prst="rect">
            <a:avLst/>
          </a:prstGeom>
          <a:solidFill>
            <a:srgbClr val="DDF5F2"/>
          </a:solidFill>
          <a:ln w="0">
            <a:noFill/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5BA6F57-7972-45AA-8AB7-7DE954CF183B}"/>
              </a:ext>
            </a:extLst>
          </p:cNvPr>
          <p:cNvSpPr>
            <a:spLocks noGrp="1"/>
          </p:cNvSpPr>
          <p:nvPr/>
        </p:nvSpPr>
        <p:spPr>
          <a:xfrm>
            <a:off x="876300" y="5267325"/>
            <a:ext cx="10458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Necesidad: pasar de la revisión operativa a una gestión comercial basada en datos.</a:t>
            </a:r>
          </a:p>
        </p:txBody>
      </p:sp>
    </p:spTree>
    <p:extLst>
      <p:ext uri="{BB962C8B-B14F-4D97-AF65-F5344CB8AC3E}">
        <p14:creationId xmlns:p14="http://schemas.microsoft.com/office/powerpoint/2010/main" val="118802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B47F546B-989D-4C79-9E74-33FFE8B4D6D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PROPUESTA DE SOLUCIÓN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CCB73A-3A08-4522-B8BD-ECBF55C819C2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Una capa de inteligencia comercial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F6FD68B-5B49-4A46-ABC7-149EA8B3097E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25193A0-3C18-4729-9DF7-23C02723B477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7217AA1-54BB-4672-A501-5E5D333A9B73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5619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54"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No es solo un buscador de licitaciones.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9A12C9E-CCCF-4CA0-8B2F-5E564A338E56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5334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La solución organiza el mercado público TI y orienta el esfuerzo comercial hacia las oportunidades con mayor compatibilidad.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69F0A0C-D6B0-404C-AB70-4F416B51FDB0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5334000" cy="971550"/>
          </a:xfrm>
          <a:prstGeom prst="rect">
            <a:avLst/>
          </a:prstGeom>
          <a:solidFill>
            <a:srgbClr val="0B3558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4F7B316-959A-47F4-ADB5-52548FCC154E}"/>
              </a:ext>
            </a:extLst>
          </p:cNvPr>
          <p:cNvSpPr>
            <a:spLocks noGrp="1"/>
          </p:cNvSpPr>
          <p:nvPr/>
        </p:nvSpPr>
        <p:spPr>
          <a:xfrm>
            <a:off x="895350" y="44958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9FD8E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9FD8EF"/>
                </a:solidFill>
                <a:latin typeface="Arial"/>
                <a:ea typeface="Arial"/>
                <a:cs typeface="Arial"/>
              </a:rPr>
              <a:t>Propuesta de valor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B532FED-1D46-4A9B-B0FF-98A15105922A}"/>
              </a:ext>
            </a:extLst>
          </p:cNvPr>
          <p:cNvSpPr>
            <a:spLocks noGrp="1"/>
          </p:cNvSpPr>
          <p:nvPr/>
        </p:nvSpPr>
        <p:spPr>
          <a:xfrm>
            <a:off x="895350" y="485775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163"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Mejor foco comercial con menor esfuerzo de búsqueda.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C5945A0-2263-44FE-A5BE-F7C8E1E0A6C3}"/>
              </a:ext>
            </a:extLst>
          </p:cNvPr>
          <p:cNvSpPr>
            <a:spLocks noGrp="1"/>
          </p:cNvSpPr>
          <p:nvPr/>
        </p:nvSpPr>
        <p:spPr>
          <a:xfrm>
            <a:off x="6724650" y="18288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516E9B2-CF32-4043-A9E2-F58C0DA0A29D}"/>
              </a:ext>
            </a:extLst>
          </p:cNvPr>
          <p:cNvSpPr>
            <a:spLocks noGrp="1"/>
          </p:cNvSpPr>
          <p:nvPr/>
        </p:nvSpPr>
        <p:spPr>
          <a:xfrm>
            <a:off x="7296150" y="182880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Búsqueda avanzada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13F5BE7-81AA-48D4-9812-DD89BC3DD98D}"/>
              </a:ext>
            </a:extLst>
          </p:cNvPr>
          <p:cNvSpPr>
            <a:spLocks noGrp="1"/>
          </p:cNvSpPr>
          <p:nvPr/>
        </p:nvSpPr>
        <p:spPr>
          <a:xfrm>
            <a:off x="7296150" y="2190750"/>
            <a:ext cx="3857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Categoría, organismo, región, monto, fecha y palabras clave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C13AF8D-8CB3-44AC-8257-8FC91B45C4AF}"/>
              </a:ext>
            </a:extLst>
          </p:cNvPr>
          <p:cNvSpPr>
            <a:spLocks noGrp="1"/>
          </p:cNvSpPr>
          <p:nvPr/>
        </p:nvSpPr>
        <p:spPr>
          <a:xfrm>
            <a:off x="6724650" y="28384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E17D6A2-7E4E-467B-BE48-185A7D10EF7A}"/>
              </a:ext>
            </a:extLst>
          </p:cNvPr>
          <p:cNvSpPr>
            <a:spLocks noGrp="1"/>
          </p:cNvSpPr>
          <p:nvPr/>
        </p:nvSpPr>
        <p:spPr>
          <a:xfrm>
            <a:off x="7296150" y="283845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Indicadores ejecutivos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AA2EEBE-876A-4F3D-8CA6-7DF9BAECE92F}"/>
              </a:ext>
            </a:extLst>
          </p:cNvPr>
          <p:cNvSpPr>
            <a:spLocks noGrp="1"/>
          </p:cNvSpPr>
          <p:nvPr/>
        </p:nvSpPr>
        <p:spPr>
          <a:xfrm>
            <a:off x="7296150" y="3200400"/>
            <a:ext cx="3857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Montos, frecuencia, tendencias y comportamiento histórico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A9F8562-A5C4-446F-8FD8-9526B4CB908E}"/>
              </a:ext>
            </a:extLst>
          </p:cNvPr>
          <p:cNvSpPr>
            <a:spLocks noGrp="1"/>
          </p:cNvSpPr>
          <p:nvPr/>
        </p:nvSpPr>
        <p:spPr>
          <a:xfrm>
            <a:off x="6724650" y="38481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B2AE8B9-C0C8-41CF-8929-F7FEF02E5DDD}"/>
              </a:ext>
            </a:extLst>
          </p:cNvPr>
          <p:cNvSpPr>
            <a:spLocks noGrp="1"/>
          </p:cNvSpPr>
          <p:nvPr/>
        </p:nvSpPr>
        <p:spPr>
          <a:xfrm>
            <a:off x="7296150" y="384810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Perfil empresarial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50C4C16-5B28-4C6E-B53C-818BDE93CC5B}"/>
              </a:ext>
            </a:extLst>
          </p:cNvPr>
          <p:cNvSpPr>
            <a:spLocks noGrp="1"/>
          </p:cNvSpPr>
          <p:nvPr/>
        </p:nvSpPr>
        <p:spPr>
          <a:xfrm>
            <a:off x="7296150" y="4210050"/>
            <a:ext cx="3857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Servicios, regiones de interés y criterios comerciales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3599F59-AB42-485E-BD3F-26F26D395839}"/>
              </a:ext>
            </a:extLst>
          </p:cNvPr>
          <p:cNvSpPr>
            <a:spLocks noGrp="1"/>
          </p:cNvSpPr>
          <p:nvPr/>
        </p:nvSpPr>
        <p:spPr>
          <a:xfrm>
            <a:off x="6724650" y="48577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4949E54-C81D-4614-A7E7-F0697AEEF557}"/>
              </a:ext>
            </a:extLst>
          </p:cNvPr>
          <p:cNvSpPr>
            <a:spLocks noGrp="1"/>
          </p:cNvSpPr>
          <p:nvPr/>
        </p:nvSpPr>
        <p:spPr>
          <a:xfrm>
            <a:off x="7296150" y="485775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Recomendación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2F53C3D-F538-45FA-ADCB-76E1BA1142C0}"/>
              </a:ext>
            </a:extLst>
          </p:cNvPr>
          <p:cNvSpPr>
            <a:spLocks noGrp="1"/>
          </p:cNvSpPr>
          <p:nvPr/>
        </p:nvSpPr>
        <p:spPr>
          <a:xfrm>
            <a:off x="7296150" y="5219700"/>
            <a:ext cx="3857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Ranking de oportunidades según compatibilidad</a:t>
            </a:r>
          </a:p>
        </p:txBody>
      </p:sp>
    </p:spTree>
    <p:extLst>
      <p:ext uri="{BB962C8B-B14F-4D97-AF65-F5344CB8AC3E}">
        <p14:creationId xmlns:p14="http://schemas.microsoft.com/office/powerpoint/2010/main" val="867158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124D89E9-F469-473F-B1C6-7B905D33700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FUNCIONAMIENTO GENERAL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C4C2A8-3FC1-4E61-9B14-CA0E5CECC6E2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Datos públicos, recomendación accionable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207BE39-B9A4-4ED8-BB2F-BAF0F2C0A67D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2668D56-686E-4093-ABF3-CC2F93F5F942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63F57854-16D0-4544-B3D5-0AE3B62A8DFD}"/>
              </a:ext>
            </a:extLst>
          </p:cNvPr>
          <p:cNvSpPr>
            <a:spLocks noGrp="1"/>
          </p:cNvSpPr>
          <p:nvPr/>
        </p:nvSpPr>
        <p:spPr>
          <a:xfrm>
            <a:off x="2324100" y="3028950"/>
            <a:ext cx="514350" cy="323850"/>
          </a:xfrm>
          <a:prstGeom prst="rightArrow">
            <a:avLst/>
          </a:prstGeom>
          <a:solidFill>
            <a:srgbClr val="DDF5F2"/>
          </a:solidFill>
          <a:ln w="0">
            <a:noFill/>
            <a:prstDash val="solid"/>
          </a:ln>
        </p:spPr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937E55CF-2F92-4563-8D6C-003DE26051AC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514350" cy="323850"/>
          </a:xfrm>
          <a:prstGeom prst="rightArrow">
            <a:avLst/>
          </a:prstGeom>
          <a:solidFill>
            <a:srgbClr val="DDF5F2"/>
          </a:solidFill>
          <a:ln w="0">
            <a:noFill/>
            <a:prstDash val="solid"/>
          </a:ln>
        </p:spPr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55A5D256-94F9-4556-8F28-7B9655912DEC}"/>
              </a:ext>
            </a:extLst>
          </p:cNvPr>
          <p:cNvSpPr>
            <a:spLocks noGrp="1"/>
          </p:cNvSpPr>
          <p:nvPr/>
        </p:nvSpPr>
        <p:spPr>
          <a:xfrm>
            <a:off x="6781800" y="3028950"/>
            <a:ext cx="514350" cy="323850"/>
          </a:xfrm>
          <a:prstGeom prst="rightArrow">
            <a:avLst/>
          </a:prstGeom>
          <a:solidFill>
            <a:srgbClr val="DDF5F2"/>
          </a:solidFill>
          <a:ln w="0">
            <a:noFill/>
            <a:prstDash val="solid"/>
          </a:ln>
        </p:spPr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2F4FDC7C-5075-4CB2-B1E9-D5B3A0ED76D2}"/>
              </a:ext>
            </a:extLst>
          </p:cNvPr>
          <p:cNvSpPr>
            <a:spLocks noGrp="1"/>
          </p:cNvSpPr>
          <p:nvPr/>
        </p:nvSpPr>
        <p:spPr>
          <a:xfrm>
            <a:off x="9010650" y="3028950"/>
            <a:ext cx="514350" cy="323850"/>
          </a:xfrm>
          <a:prstGeom prst="rightArrow">
            <a:avLst/>
          </a:prstGeom>
          <a:solidFill>
            <a:srgbClr val="DDF5F2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CF621B6-9976-4B80-9C68-C2BA992CB465}"/>
              </a:ext>
            </a:extLst>
          </p:cNvPr>
          <p:cNvSpPr>
            <a:spLocks noGrp="1"/>
          </p:cNvSpPr>
          <p:nvPr/>
        </p:nvSpPr>
        <p:spPr>
          <a:xfrm>
            <a:off x="628650" y="1962150"/>
            <a:ext cx="1809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4E31D15-DFD1-4DCB-AFCB-61A4E2977B91}"/>
              </a:ext>
            </a:extLst>
          </p:cNvPr>
          <p:cNvSpPr>
            <a:spLocks noGrp="1"/>
          </p:cNvSpPr>
          <p:nvPr/>
        </p:nvSpPr>
        <p:spPr>
          <a:xfrm>
            <a:off x="800100" y="213360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D3889C3-B255-45D2-A507-C4C62268BB4F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Obtener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F4C09E9-4942-4587-B016-A12901E355FE}"/>
              </a:ext>
            </a:extLst>
          </p:cNvPr>
          <p:cNvSpPr>
            <a:spLocks noGrp="1"/>
          </p:cNvSpPr>
          <p:nvPr/>
        </p:nvSpPr>
        <p:spPr>
          <a:xfrm>
            <a:off x="800100" y="3524250"/>
            <a:ext cx="14668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Licitaciones, adjudicaciones y órdenes de compra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9BE741E-E036-4DA1-8D2E-B6FDDB8EC8C5}"/>
              </a:ext>
            </a:extLst>
          </p:cNvPr>
          <p:cNvSpPr>
            <a:spLocks noGrp="1"/>
          </p:cNvSpPr>
          <p:nvPr/>
        </p:nvSpPr>
        <p:spPr>
          <a:xfrm>
            <a:off x="2857500" y="1962150"/>
            <a:ext cx="1809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2B29AD5-888E-4D44-97C7-A69B2E262A35}"/>
              </a:ext>
            </a:extLst>
          </p:cNvPr>
          <p:cNvSpPr>
            <a:spLocks noGrp="1"/>
          </p:cNvSpPr>
          <p:nvPr/>
        </p:nvSpPr>
        <p:spPr>
          <a:xfrm>
            <a:off x="3028950" y="213360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D309F6B-669A-4D85-99C4-CC8013FCCA1B}"/>
              </a:ext>
            </a:extLst>
          </p:cNvPr>
          <p:cNvSpPr>
            <a:spLocks noGrp="1"/>
          </p:cNvSpPr>
          <p:nvPr/>
        </p:nvSpPr>
        <p:spPr>
          <a:xfrm>
            <a:off x="3028950" y="26860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Procesar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B7B226F-56E6-4CC1-BB9B-802DD27B47D2}"/>
              </a:ext>
            </a:extLst>
          </p:cNvPr>
          <p:cNvSpPr>
            <a:spLocks noGrp="1"/>
          </p:cNvSpPr>
          <p:nvPr/>
        </p:nvSpPr>
        <p:spPr>
          <a:xfrm>
            <a:off x="3028950" y="3524250"/>
            <a:ext cx="14668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Limpieza, normalización y clasificación TI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E18D894-806B-43B3-8BD8-DDDF08FF522E}"/>
              </a:ext>
            </a:extLst>
          </p:cNvPr>
          <p:cNvSpPr>
            <a:spLocks noGrp="1"/>
          </p:cNvSpPr>
          <p:nvPr/>
        </p:nvSpPr>
        <p:spPr>
          <a:xfrm>
            <a:off x="5086350" y="1962150"/>
            <a:ext cx="1809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AC52C4D-6F5B-4E0A-BCC5-4014AD6CC58E}"/>
              </a:ext>
            </a:extLst>
          </p:cNvPr>
          <p:cNvSpPr>
            <a:spLocks noGrp="1"/>
          </p:cNvSpPr>
          <p:nvPr/>
        </p:nvSpPr>
        <p:spPr>
          <a:xfrm>
            <a:off x="5257800" y="213360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DD93657-E6A5-412B-A1F3-B7CFFE5732BD}"/>
              </a:ext>
            </a:extLst>
          </p:cNvPr>
          <p:cNvSpPr>
            <a:spLocks noGrp="1"/>
          </p:cNvSpPr>
          <p:nvPr/>
        </p:nvSpPr>
        <p:spPr>
          <a:xfrm>
            <a:off x="5257800" y="26860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Analizar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CD8E6E8-A56F-43B9-924C-75A9EBFEA048}"/>
              </a:ext>
            </a:extLst>
          </p:cNvPr>
          <p:cNvSpPr>
            <a:spLocks noGrp="1"/>
          </p:cNvSpPr>
          <p:nvPr/>
        </p:nvSpPr>
        <p:spPr>
          <a:xfrm>
            <a:off x="5257800" y="3524250"/>
            <a:ext cx="14668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Indicadores, tendencias y patrones históricos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14EFEA9-8EA2-4678-AFC0-284405415CD6}"/>
              </a:ext>
            </a:extLst>
          </p:cNvPr>
          <p:cNvSpPr>
            <a:spLocks noGrp="1"/>
          </p:cNvSpPr>
          <p:nvPr/>
        </p:nvSpPr>
        <p:spPr>
          <a:xfrm>
            <a:off x="7315200" y="1962150"/>
            <a:ext cx="1809750" cy="2857500"/>
          </a:xfrm>
          <a:prstGeom prst="rect">
            <a:avLst/>
          </a:prstGeom>
          <a:solidFill>
            <a:srgbClr val="DD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69C0951-E249-4AAF-912F-8AAD4B583CA9}"/>
              </a:ext>
            </a:extLst>
          </p:cNvPr>
          <p:cNvSpPr>
            <a:spLocks noGrp="1"/>
          </p:cNvSpPr>
          <p:nvPr/>
        </p:nvSpPr>
        <p:spPr>
          <a:xfrm>
            <a:off x="7486650" y="213360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1C9D95D-9DCC-4519-BDB7-5043B2E8F7DE}"/>
              </a:ext>
            </a:extLst>
          </p:cNvPr>
          <p:cNvSpPr>
            <a:spLocks noGrp="1"/>
          </p:cNvSpPr>
          <p:nvPr/>
        </p:nvSpPr>
        <p:spPr>
          <a:xfrm>
            <a:off x="7486650" y="26860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Priorizar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6CEDE78-D0D7-4C4A-A720-75F519AD27C4}"/>
              </a:ext>
            </a:extLst>
          </p:cNvPr>
          <p:cNvSpPr>
            <a:spLocks noGrp="1"/>
          </p:cNvSpPr>
          <p:nvPr/>
        </p:nvSpPr>
        <p:spPr>
          <a:xfrm>
            <a:off x="7486650" y="3524250"/>
            <a:ext cx="14668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Compatibilidad con el perfil empresarial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83B3688-D8E9-4AD6-BD81-C2605C50D713}"/>
              </a:ext>
            </a:extLst>
          </p:cNvPr>
          <p:cNvSpPr>
            <a:spLocks noGrp="1"/>
          </p:cNvSpPr>
          <p:nvPr/>
        </p:nvSpPr>
        <p:spPr>
          <a:xfrm>
            <a:off x="9544050" y="1962150"/>
            <a:ext cx="1809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8612780-D005-4241-8640-B678D12302F2}"/>
              </a:ext>
            </a:extLst>
          </p:cNvPr>
          <p:cNvSpPr>
            <a:spLocks noGrp="1"/>
          </p:cNvSpPr>
          <p:nvPr/>
        </p:nvSpPr>
        <p:spPr>
          <a:xfrm>
            <a:off x="9715500" y="2133600"/>
            <a:ext cx="400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A8FC6EB-8151-43EE-8D49-B807488533B6}"/>
              </a:ext>
            </a:extLst>
          </p:cNvPr>
          <p:cNvSpPr>
            <a:spLocks noGrp="1"/>
          </p:cNvSpPr>
          <p:nvPr/>
        </p:nvSpPr>
        <p:spPr>
          <a:xfrm>
            <a:off x="9715500" y="26860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Mostrar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4AF8C3D-45B3-4071-8CD3-9FA605473AEB}"/>
              </a:ext>
            </a:extLst>
          </p:cNvPr>
          <p:cNvSpPr>
            <a:spLocks noGrp="1"/>
          </p:cNvSpPr>
          <p:nvPr/>
        </p:nvSpPr>
        <p:spPr>
          <a:xfrm>
            <a:off x="9715500" y="3524250"/>
            <a:ext cx="14668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Dashboard, ranking, filtros y reportes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6FFC643-C39E-49FD-B562-86F2BD6D056F}"/>
              </a:ext>
            </a:extLst>
          </p:cNvPr>
          <p:cNvSpPr>
            <a:spLocks noGrp="1"/>
          </p:cNvSpPr>
          <p:nvPr/>
        </p:nvSpPr>
        <p:spPr>
          <a:xfrm>
            <a:off x="1466850" y="5391150"/>
            <a:ext cx="9258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789"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Resultado: una vista priorizada del mercado, preparada para apoyar una decisión comercial.</a:t>
            </a:r>
          </a:p>
        </p:txBody>
      </p:sp>
    </p:spTree>
    <p:extLst>
      <p:ext uri="{BB962C8B-B14F-4D97-AF65-F5344CB8AC3E}">
        <p14:creationId xmlns:p14="http://schemas.microsoft.com/office/powerpoint/2010/main" val="1850922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FF752496-6845-4637-B301-6F2ABA52310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USUARIOS Y BENEFICIOS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20BA7EE-4F11-44F7-A1DE-30D816DC969B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Cada rol obtiene un valor diferente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D2D0471-14C9-4760-A5D4-3BF118188839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A31FEFE-2B92-424F-A2BC-76A74B7A1FE2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642C7E6-2DC8-4D8C-8A24-B3AF5E724D78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ROL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6EBDF8B-9911-401A-82D3-F66AAF7E0A49}"/>
              </a:ext>
            </a:extLst>
          </p:cNvPr>
          <p:cNvSpPr>
            <a:spLocks noGrp="1"/>
          </p:cNvSpPr>
          <p:nvPr/>
        </p:nvSpPr>
        <p:spPr>
          <a:xfrm>
            <a:off x="3810000" y="1809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DECISIÓN PRINCIPAL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AE363D4-A6FC-4823-89E9-8FA25BBDC674}"/>
              </a:ext>
            </a:extLst>
          </p:cNvPr>
          <p:cNvSpPr>
            <a:spLocks noGrp="1"/>
          </p:cNvSpPr>
          <p:nvPr/>
        </p:nvSpPr>
        <p:spPr>
          <a:xfrm>
            <a:off x="7239000" y="18097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VALOR RECIBIDO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C100723-966F-4D37-BC4A-C2ED3E0C904F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6797339-D0F6-4654-93BE-8833CEEE3DE7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Gerencia comercial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8E9254C-8356-4441-B5D0-418784E3F566}"/>
              </a:ext>
            </a:extLst>
          </p:cNvPr>
          <p:cNvSpPr>
            <a:spLocks noGrp="1"/>
          </p:cNvSpPr>
          <p:nvPr/>
        </p:nvSpPr>
        <p:spPr>
          <a:xfrm>
            <a:off x="3810000" y="234315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69AA"/>
                </a:solidFill>
                <a:latin typeface="Arial"/>
                <a:ea typeface="Arial"/>
                <a:cs typeface="Arial"/>
              </a:rPr>
              <a:t>Define estrategia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F45B9D3-E3C8-4DA1-9C52-82901B7900DA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37"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Indicadores, tendencias y organismos compradores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8DB809B-4AB7-444F-8BF1-2A39C7CE372C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50DAEC1-C2CC-48D1-A4E9-FEAC61DA4AFF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dirty="0" err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Ejecutivo</a:t>
            </a:r>
            <a:r>
              <a:rPr sz="1725" b="1" dirty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B2G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E1BACD-1633-44B3-9B32-59B0A45A1088}"/>
              </a:ext>
            </a:extLst>
          </p:cNvPr>
          <p:cNvSpPr>
            <a:spLocks noGrp="1"/>
          </p:cNvSpPr>
          <p:nvPr/>
        </p:nvSpPr>
        <p:spPr>
          <a:xfrm>
            <a:off x="3810000" y="318135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69AA"/>
                </a:solidFill>
                <a:latin typeface="Arial"/>
                <a:ea typeface="Arial"/>
                <a:cs typeface="Arial"/>
              </a:rPr>
              <a:t>Prioriza oportunidades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8B8B9B9-7321-4432-964E-72F713FC4AF3}"/>
              </a:ext>
            </a:extLst>
          </p:cNvPr>
          <p:cNvSpPr>
            <a:spLocks noGrp="1"/>
          </p:cNvSpPr>
          <p:nvPr/>
        </p:nvSpPr>
        <p:spPr>
          <a:xfrm>
            <a:off x="7239000" y="3181350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Ranking, filtros y compatibilidad comercial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3AD651A-2818-4D31-AE91-354F6D38C0BF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E06B3F4-BAC0-435D-BA7E-AA86744CD78F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Analista comercial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22E1319-960B-4F6E-B945-F1DE25E4642A}"/>
              </a:ext>
            </a:extLst>
          </p:cNvPr>
          <p:cNvSpPr>
            <a:spLocks noGrp="1"/>
          </p:cNvSpPr>
          <p:nvPr/>
        </p:nvSpPr>
        <p:spPr>
          <a:xfrm>
            <a:off x="3810000" y="401955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69AA"/>
                </a:solidFill>
                <a:latin typeface="Arial"/>
                <a:ea typeface="Arial"/>
                <a:cs typeface="Arial"/>
              </a:rPr>
              <a:t>Interpreta el mercado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7C090CB-7874-49D7-BAB3-E4FD345C48BF}"/>
              </a:ext>
            </a:extLst>
          </p:cNvPr>
          <p:cNvSpPr>
            <a:spLocks noGrp="1"/>
          </p:cNvSpPr>
          <p:nvPr/>
        </p:nvSpPr>
        <p:spPr>
          <a:xfrm>
            <a:off x="7239000" y="4019550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Histórico, estacionalidad y reportes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1DFDDC3-B239-4C37-8A97-D4AE222C29B2}"/>
              </a:ext>
            </a:extLst>
          </p:cNvPr>
          <p:cNvSpPr>
            <a:spLocks noGrp="1"/>
          </p:cNvSpPr>
          <p:nvPr/>
        </p:nvSpPr>
        <p:spPr>
          <a:xfrm>
            <a:off x="609600" y="4676775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24A63D2-6502-4E80-B029-73CA41B72558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05C3388-438C-4AE5-AA57-34215B814E66}"/>
              </a:ext>
            </a:extLst>
          </p:cNvPr>
          <p:cNvSpPr>
            <a:spLocks noGrp="1"/>
          </p:cNvSpPr>
          <p:nvPr/>
        </p:nvSpPr>
        <p:spPr>
          <a:xfrm>
            <a:off x="3810000" y="485775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69AA"/>
                </a:solidFill>
                <a:latin typeface="Arial"/>
                <a:ea typeface="Arial"/>
                <a:cs typeface="Arial"/>
              </a:rPr>
              <a:t>Configura la empresa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FE7E279-3ADF-437E-9719-59AF71AE9E17}"/>
              </a:ext>
            </a:extLst>
          </p:cNvPr>
          <p:cNvSpPr>
            <a:spLocks noGrp="1"/>
          </p:cNvSpPr>
          <p:nvPr/>
        </p:nvSpPr>
        <p:spPr>
          <a:xfrm>
            <a:off x="7239000" y="4857750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Usuarios, perfil, preferencias y criterios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9C0337B-3653-4E02-8F53-B8C83CC8E5E1}"/>
              </a:ext>
            </a:extLst>
          </p:cNvPr>
          <p:cNvSpPr>
            <a:spLocks noGrp="1"/>
          </p:cNvSpPr>
          <p:nvPr/>
        </p:nvSpPr>
        <p:spPr>
          <a:xfrm>
            <a:off x="609600" y="5514975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2ACEDB5-727A-47F2-939D-98EE6042966E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972800" cy="457200"/>
          </a:xfrm>
          <a:prstGeom prst="rect">
            <a:avLst/>
          </a:prstGeom>
          <a:solidFill>
            <a:srgbClr val="0B3558"/>
          </a:solidFill>
          <a:ln w="0">
            <a:noFill/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2B373D06-C183-4C7B-9BA5-D1C1C583BC3E}"/>
              </a:ext>
            </a:extLst>
          </p:cNvPr>
          <p:cNvSpPr>
            <a:spLocks noGrp="1"/>
          </p:cNvSpPr>
          <p:nvPr/>
        </p:nvSpPr>
        <p:spPr>
          <a:xfrm>
            <a:off x="857250" y="588645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Usuario inicial: empresas proveedoras del sector tecnológico.</a:t>
            </a:r>
          </a:p>
        </p:txBody>
      </p:sp>
    </p:spTree>
    <p:extLst>
      <p:ext uri="{BB962C8B-B14F-4D97-AF65-F5344CB8AC3E}">
        <p14:creationId xmlns:p14="http://schemas.microsoft.com/office/powerpoint/2010/main" val="891036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C64E1BD3-7FF9-4B3E-AD7E-74E20C89BE1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ALCANCE INICIAL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B2A6522-0E69-4E9D-A61F-D8F703E9CD2F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MVP demuestra valor antes de escalar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7C3736A-4089-41CC-B98E-507C4CFBD12B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7D29ED4-5034-4B0B-979C-2224CF3542E7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04CEAE3-61DA-47A9-BFA4-F4471446772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NÚCLEO DEL MVP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FBB6E78-9906-4CC1-A9A1-1C81A6D7AE7D}"/>
              </a:ext>
            </a:extLst>
          </p:cNvPr>
          <p:cNvSpPr>
            <a:spLocks noGrp="1"/>
          </p:cNvSpPr>
          <p:nvPr/>
        </p:nvSpPr>
        <p:spPr>
          <a:xfrm>
            <a:off x="666750" y="2305050"/>
            <a:ext cx="304800" cy="304800"/>
          </a:xfrm>
          <a:prstGeom prst="rect">
            <a:avLst/>
          </a:prstGeom>
          <a:solidFill>
            <a:srgbClr val="1769AA"/>
          </a:solidFill>
          <a:ln w="0">
            <a:noFill/>
            <a:prstDash val="solid"/>
          </a:ln>
        </p:spPr>
        <p:txBody>
          <a:bodyPr wrap="square" lIns="0" tIns="28575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6BD043F-6358-4DEB-9A47-D14DD5158CC8}"/>
              </a:ext>
            </a:extLst>
          </p:cNvPr>
          <p:cNvSpPr>
            <a:spLocks noGrp="1"/>
          </p:cNvSpPr>
          <p:nvPr/>
        </p:nvSpPr>
        <p:spPr>
          <a:xfrm>
            <a:off x="1143000" y="23050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Acceso y perfil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865956D-8007-435F-AF0F-05DA57EEB6B3}"/>
              </a:ext>
            </a:extLst>
          </p:cNvPr>
          <p:cNvSpPr>
            <a:spLocks noGrp="1"/>
          </p:cNvSpPr>
          <p:nvPr/>
        </p:nvSpPr>
        <p:spPr>
          <a:xfrm>
            <a:off x="3219450" y="230505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495"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Usuarios, autenticación y configuración de empresa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9B8618E-CDB0-4313-8B3F-60649527B96C}"/>
              </a:ext>
            </a:extLst>
          </p:cNvPr>
          <p:cNvSpPr>
            <a:spLocks noGrp="1"/>
          </p:cNvSpPr>
          <p:nvPr/>
        </p:nvSpPr>
        <p:spPr>
          <a:xfrm>
            <a:off x="666750" y="2981325"/>
            <a:ext cx="304800" cy="304800"/>
          </a:xfrm>
          <a:prstGeom prst="rect">
            <a:avLst/>
          </a:prstGeom>
          <a:solidFill>
            <a:srgbClr val="1769AA"/>
          </a:solidFill>
          <a:ln w="0">
            <a:noFill/>
            <a:prstDash val="solid"/>
          </a:ln>
        </p:spPr>
        <p:txBody>
          <a:bodyPr wrap="square" lIns="0" tIns="28575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46F03F3-2E21-4D06-BA01-90B1D312701B}"/>
              </a:ext>
            </a:extLst>
          </p:cNvPr>
          <p:cNvSpPr>
            <a:spLocks noGrp="1"/>
          </p:cNvSpPr>
          <p:nvPr/>
        </p:nvSpPr>
        <p:spPr>
          <a:xfrm>
            <a:off x="1143000" y="29813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Consulta TI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9C3A957-A6F1-4DC6-B782-62077791194A}"/>
              </a:ext>
            </a:extLst>
          </p:cNvPr>
          <p:cNvSpPr>
            <a:spLocks noGrp="1"/>
          </p:cNvSpPr>
          <p:nvPr/>
        </p:nvSpPr>
        <p:spPr>
          <a:xfrm>
            <a:off x="3219450" y="2981325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495"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Oportunidades tecnológicas y filtros avanzados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65B0F27-EF34-497B-B42D-73ACAF4893C6}"/>
              </a:ext>
            </a:extLst>
          </p:cNvPr>
          <p:cNvSpPr>
            <a:spLocks noGrp="1"/>
          </p:cNvSpPr>
          <p:nvPr/>
        </p:nvSpPr>
        <p:spPr>
          <a:xfrm>
            <a:off x="666750" y="3657600"/>
            <a:ext cx="304800" cy="304800"/>
          </a:xfrm>
          <a:prstGeom prst="rect">
            <a:avLst/>
          </a:prstGeom>
          <a:solidFill>
            <a:srgbClr val="1769AA"/>
          </a:solidFill>
          <a:ln w="0">
            <a:noFill/>
            <a:prstDash val="solid"/>
          </a:ln>
        </p:spPr>
        <p:txBody>
          <a:bodyPr wrap="square" lIns="0" tIns="28575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639F8DE-56B5-4C93-88AC-D6681E8A1F6F}"/>
              </a:ext>
            </a:extLst>
          </p:cNvPr>
          <p:cNvSpPr>
            <a:spLocks noGrp="1"/>
          </p:cNvSpPr>
          <p:nvPr/>
        </p:nvSpPr>
        <p:spPr>
          <a:xfrm>
            <a:off x="1143000" y="36576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418C95F-54D7-4663-B1E4-0F719082CF2B}"/>
              </a:ext>
            </a:extLst>
          </p:cNvPr>
          <p:cNvSpPr>
            <a:spLocks noGrp="1"/>
          </p:cNvSpPr>
          <p:nvPr/>
        </p:nvSpPr>
        <p:spPr>
          <a:xfrm>
            <a:off x="3219450" y="365760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495"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Indicadores comerciales y análisis histórico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C5F12CE-6776-4A2F-A169-59A684AB6C1A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304800" cy="304800"/>
          </a:xfrm>
          <a:prstGeom prst="rect">
            <a:avLst/>
          </a:prstGeom>
          <a:solidFill>
            <a:srgbClr val="1769AA"/>
          </a:solidFill>
          <a:ln w="0">
            <a:noFill/>
            <a:prstDash val="solid"/>
          </a:ln>
        </p:spPr>
        <p:txBody>
          <a:bodyPr wrap="square" lIns="0" tIns="28575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C73279A-8D9B-4B70-B1AE-A620DEF0AA3F}"/>
              </a:ext>
            </a:extLst>
          </p:cNvPr>
          <p:cNvSpPr>
            <a:spLocks noGrp="1"/>
          </p:cNvSpPr>
          <p:nvPr/>
        </p:nvSpPr>
        <p:spPr>
          <a:xfrm>
            <a:off x="1143000" y="43338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Ranking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F615EDF-B702-4220-8BAB-EF2AC454A984}"/>
              </a:ext>
            </a:extLst>
          </p:cNvPr>
          <p:cNvSpPr>
            <a:spLocks noGrp="1"/>
          </p:cNvSpPr>
          <p:nvPr/>
        </p:nvSpPr>
        <p:spPr>
          <a:xfrm>
            <a:off x="3219450" y="4333875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495"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Priorización según criterios de compatibilidad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B8E0E2E-0032-4447-A40C-7FE5B6F14CAC}"/>
              </a:ext>
            </a:extLst>
          </p:cNvPr>
          <p:cNvSpPr>
            <a:spLocks noGrp="1"/>
          </p:cNvSpPr>
          <p:nvPr/>
        </p:nvSpPr>
        <p:spPr>
          <a:xfrm>
            <a:off x="666750" y="5010150"/>
            <a:ext cx="304800" cy="304800"/>
          </a:xfrm>
          <a:prstGeom prst="rect">
            <a:avLst/>
          </a:prstGeom>
          <a:solidFill>
            <a:srgbClr val="1769AA"/>
          </a:solidFill>
          <a:ln w="0">
            <a:noFill/>
            <a:prstDash val="solid"/>
          </a:ln>
        </p:spPr>
        <p:txBody>
          <a:bodyPr wrap="square" lIns="0" tIns="28575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6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241ABE2-4B36-442C-9AF7-EAE852E768D5}"/>
              </a:ext>
            </a:extLst>
          </p:cNvPr>
          <p:cNvSpPr>
            <a:spLocks noGrp="1"/>
          </p:cNvSpPr>
          <p:nvPr/>
        </p:nvSpPr>
        <p:spPr>
          <a:xfrm>
            <a:off x="1143000" y="50101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Reportes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D2BC55C-87EB-46B8-B438-9BB7211D2AE3}"/>
              </a:ext>
            </a:extLst>
          </p:cNvPr>
          <p:cNvSpPr>
            <a:spLocks noGrp="1"/>
          </p:cNvSpPr>
          <p:nvPr/>
        </p:nvSpPr>
        <p:spPr>
          <a:xfrm>
            <a:off x="3219450" y="501015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7495"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Resumen y exportación de información relevante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454C7CF-F7E1-4EBE-977A-037060474B4E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19050" cy="400050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E114EA1-A58D-4E57-A789-FF5845A90DE4}"/>
              </a:ext>
            </a:extLst>
          </p:cNvPr>
          <p:cNvSpPr>
            <a:spLocks noGrp="1"/>
          </p:cNvSpPr>
          <p:nvPr/>
        </p:nvSpPr>
        <p:spPr>
          <a:xfrm>
            <a:off x="7258050" y="18097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D99022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D99022"/>
                </a:solidFill>
                <a:latin typeface="Arial"/>
                <a:ea typeface="Arial"/>
                <a:cs typeface="Arial"/>
              </a:rPr>
              <a:t>CAPACIDAD CONDICIONADA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71D7915-62BB-4BE1-91B2-940E5D185636}"/>
              </a:ext>
            </a:extLst>
          </p:cNvPr>
          <p:cNvSpPr>
            <a:spLocks noGrp="1"/>
          </p:cNvSpPr>
          <p:nvPr/>
        </p:nvSpPr>
        <p:spPr>
          <a:xfrm>
            <a:off x="7258050" y="23812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Predicción básica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8FD17BF-E256-43B7-9C88-D0D06D8B2B59}"/>
              </a:ext>
            </a:extLst>
          </p:cNvPr>
          <p:cNvSpPr>
            <a:spLocks noGrp="1"/>
          </p:cNvSpPr>
          <p:nvPr/>
        </p:nvSpPr>
        <p:spPr>
          <a:xfrm>
            <a:off x="7258050" y="3009900"/>
            <a:ext cx="36195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Se incorpora solo si la calidad, cantidad y periodicidad de los datos permiten identificar tendencias históricas confiables.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2661481-8D6F-432B-AB87-32568C2C7902}"/>
              </a:ext>
            </a:extLst>
          </p:cNvPr>
          <p:cNvSpPr>
            <a:spLocks noGrp="1"/>
          </p:cNvSpPr>
          <p:nvPr/>
        </p:nvSpPr>
        <p:spPr>
          <a:xfrm>
            <a:off x="7258050" y="4629150"/>
            <a:ext cx="3619500" cy="876300"/>
          </a:xfrm>
          <a:prstGeom prst="rect">
            <a:avLst/>
          </a:prstGeom>
          <a:solidFill>
            <a:srgbClr val="DDF5F2"/>
          </a:solidFill>
          <a:ln w="0">
            <a:noFill/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6A80D7D-1852-48F8-9F53-B04DF2EE3454}"/>
              </a:ext>
            </a:extLst>
          </p:cNvPr>
          <p:cNvSpPr>
            <a:spLocks noGrp="1"/>
          </p:cNvSpPr>
          <p:nvPr/>
        </p:nvSpPr>
        <p:spPr>
          <a:xfrm>
            <a:off x="7505700" y="47815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Criterio de éxito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AD11DF4-2407-406B-9DC2-141B76D97A82}"/>
              </a:ext>
            </a:extLst>
          </p:cNvPr>
          <p:cNvSpPr>
            <a:spLocks noGrp="1"/>
          </p:cNvSpPr>
          <p:nvPr/>
        </p:nvSpPr>
        <p:spPr>
          <a:xfrm>
            <a:off x="7505700" y="5124450"/>
            <a:ext cx="312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4002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Un MVP funcional, medible y demostrable.</a:t>
            </a:r>
          </a:p>
        </p:txBody>
      </p:sp>
    </p:spTree>
    <p:extLst>
      <p:ext uri="{BB962C8B-B14F-4D97-AF65-F5344CB8AC3E}">
        <p14:creationId xmlns:p14="http://schemas.microsoft.com/office/powerpoint/2010/main" val="1421123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152CBA8B-E39C-41AE-AD76-9F2B808AA40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FUERA DEL ALCANCE DEL MVP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CEACE06-8837-474F-A39C-852DC767BA26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Las exclusiones protegen la viabilidad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A6A62B0-E5DF-459A-A6D6-01FCA4545211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008EB92-5714-4766-B947-058CECBA1E21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CF42CDF-FF92-4261-821D-ACCB9359DFA1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C751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5146"/>
                </a:solidFill>
                <a:latin typeface="Arial"/>
                <a:ea typeface="Arial"/>
                <a:cs typeface="Arial"/>
              </a:rPr>
              <a:t>El MVP no incluye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1396A34-38C7-4E8A-8417-9DC2767BD49D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5810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4" algn="l">
              <a:lnSpc>
                <a:spcPct val="105000"/>
              </a:lnSpc>
              <a:spcAft>
                <a:spcPts val="8"/>
              </a:spcAft>
              <a:buNone/>
              <a:defRPr sz="165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43"/>
                </a:solidFill>
                <a:latin typeface="Arial"/>
                <a:ea typeface="Arial"/>
                <a:cs typeface="Arial"/>
              </a:rPr>
              <a:t>Análisis de todos los rubros de Mercado Público.</a:t>
            </a:r>
          </a:p>
          <a:p>
            <a:pPr marL="24" indent="-14" algn="l">
              <a:lnSpc>
                <a:spcPct val="105000"/>
              </a:lnSpc>
              <a:spcAft>
                <a:spcPts val="8"/>
              </a:spcAft>
              <a:buNone/>
              <a:defRPr sz="165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43"/>
                </a:solidFill>
                <a:latin typeface="Arial"/>
                <a:ea typeface="Arial"/>
                <a:cs typeface="Arial"/>
              </a:rPr>
              <a:t>Postulación automática a licitaciones.</a:t>
            </a:r>
          </a:p>
          <a:p>
            <a:pPr marL="24" indent="-14" algn="l">
              <a:lnSpc>
                <a:spcPct val="105000"/>
              </a:lnSpc>
              <a:spcAft>
                <a:spcPts val="8"/>
              </a:spcAft>
              <a:buNone/>
              <a:defRPr sz="165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43"/>
                </a:solidFill>
                <a:latin typeface="Arial"/>
                <a:ea typeface="Arial"/>
                <a:cs typeface="Arial"/>
              </a:rPr>
              <a:t>Gestión documental completa de ofertas.</a:t>
            </a:r>
          </a:p>
          <a:p>
            <a:pPr marL="24" indent="-14" algn="l">
              <a:lnSpc>
                <a:spcPct val="105000"/>
              </a:lnSpc>
              <a:spcAft>
                <a:spcPts val="8"/>
              </a:spcAft>
              <a:buNone/>
              <a:defRPr sz="165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43"/>
                </a:solidFill>
                <a:latin typeface="Arial"/>
                <a:ea typeface="Arial"/>
                <a:cs typeface="Arial"/>
              </a:rPr>
              <a:t>Firma electrónica o evaluación jurídica de bases.</a:t>
            </a:r>
          </a:p>
          <a:p>
            <a:pPr marL="24" indent="-14" algn="l">
              <a:lnSpc>
                <a:spcPct val="105000"/>
              </a:lnSpc>
              <a:spcAft>
                <a:spcPts val="8"/>
              </a:spcAft>
              <a:buNone/>
              <a:defRPr sz="165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43"/>
                </a:solidFill>
                <a:latin typeface="Arial"/>
                <a:ea typeface="Arial"/>
                <a:cs typeface="Arial"/>
              </a:rPr>
              <a:t>CRM completo y contacto automático con organismos.</a:t>
            </a:r>
          </a:p>
          <a:p>
            <a:pPr marL="24" indent="-14" algn="l">
              <a:lnSpc>
                <a:spcPct val="105000"/>
              </a:lnSpc>
              <a:spcAft>
                <a:spcPts val="8"/>
              </a:spcAft>
              <a:buNone/>
              <a:defRPr sz="165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43"/>
                </a:solidFill>
                <a:latin typeface="Arial"/>
                <a:ea typeface="Arial"/>
                <a:cs typeface="Arial"/>
              </a:rPr>
              <a:t>Aplicación móvil nativa e inteligencia artificial avanzada.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F51F7D8-E44F-4523-AE61-053B7C01A9F7}"/>
              </a:ext>
            </a:extLst>
          </p:cNvPr>
          <p:cNvSpPr>
            <a:spLocks noGrp="1"/>
          </p:cNvSpPr>
          <p:nvPr/>
        </p:nvSpPr>
        <p:spPr>
          <a:xfrm>
            <a:off x="7181850" y="1847850"/>
            <a:ext cx="3943350" cy="3429000"/>
          </a:xfrm>
          <a:prstGeom prst="rect">
            <a:avLst/>
          </a:prstGeom>
          <a:solidFill>
            <a:srgbClr val="0B3558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C20DDD6-C805-48D6-9189-9D6C0F0AB644}"/>
              </a:ext>
            </a:extLst>
          </p:cNvPr>
          <p:cNvSpPr>
            <a:spLocks noGrp="1"/>
          </p:cNvSpPr>
          <p:nvPr/>
        </p:nvSpPr>
        <p:spPr>
          <a:xfrm>
            <a:off x="7600950" y="22098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9FD8E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9FD8EF"/>
                </a:solidFill>
                <a:latin typeface="Arial"/>
                <a:ea typeface="Arial"/>
                <a:cs typeface="Arial"/>
              </a:rPr>
              <a:t>Principio de alcance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9AB3901-B05A-45DD-A564-9E060BD517A6}"/>
              </a:ext>
            </a:extLst>
          </p:cNvPr>
          <p:cNvSpPr>
            <a:spLocks noGrp="1"/>
          </p:cNvSpPr>
          <p:nvPr/>
        </p:nvSpPr>
        <p:spPr>
          <a:xfrm>
            <a:off x="7600950" y="2933700"/>
            <a:ext cx="31051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598"/>
          </a:bodyPr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Resolver bien una necesidad TI concreta antes de ampliar rubros, automatizaciones e integraciones.</a:t>
            </a:r>
          </a:p>
        </p:txBody>
      </p:sp>
    </p:spTree>
    <p:extLst>
      <p:ext uri="{BB962C8B-B14F-4D97-AF65-F5344CB8AC3E}">
        <p14:creationId xmlns:p14="http://schemas.microsoft.com/office/powerpoint/2010/main" val="711043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ángulo 29">
            <a:extLst>
              <a:ext uri="{FF2B5EF4-FFF2-40B4-BE49-F238E27FC236}">
                <a16:creationId xmlns:a16="http://schemas.microsoft.com/office/drawing/2014/main" id="{9C6DF793-87B7-4107-8FCD-F97DF149839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COMPONENTES FUNCIONALES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C6A27FD-2808-4090-8F10-696A6E51C0DE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Una solución modular facilita la evolución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F5BA6BE-5843-41A9-8E86-5F74038AC049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1776106-A6AC-4A35-AD76-8ADB1D0C3065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7C4F85-A888-44BE-A3AA-BAF4386351D5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E41F4C3-3003-40BF-975B-5899DA6D718C}"/>
              </a:ext>
            </a:extLst>
          </p:cNvPr>
          <p:cNvSpPr>
            <a:spLocks noGrp="1"/>
          </p:cNvSpPr>
          <p:nvPr/>
        </p:nvSpPr>
        <p:spPr>
          <a:xfrm>
            <a:off x="1352550" y="18097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Perfil de empresa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B68F6AB-F090-4CFC-80A0-468825E58F9F}"/>
              </a:ext>
            </a:extLst>
          </p:cNvPr>
          <p:cNvSpPr>
            <a:spLocks noGrp="1"/>
          </p:cNvSpPr>
          <p:nvPr/>
        </p:nvSpPr>
        <p:spPr>
          <a:xfrm>
            <a:off x="1352550" y="2276475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Preferencias y criterios comerciales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AC8FF85-F9B0-4D4E-B0DD-4C9C4513A313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49530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891A1B3-43AD-48B5-9C20-020D1E9FD5FD}"/>
              </a:ext>
            </a:extLst>
          </p:cNvPr>
          <p:cNvSpPr>
            <a:spLocks noGrp="1"/>
          </p:cNvSpPr>
          <p:nvPr/>
        </p:nvSpPr>
        <p:spPr>
          <a:xfrm>
            <a:off x="6267450" y="18097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203964F-7C7B-47E3-854B-283556DA766A}"/>
              </a:ext>
            </a:extLst>
          </p:cNvPr>
          <p:cNvSpPr>
            <a:spLocks noGrp="1"/>
          </p:cNvSpPr>
          <p:nvPr/>
        </p:nvSpPr>
        <p:spPr>
          <a:xfrm>
            <a:off x="7010400" y="18097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Buscador avanzado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D08D8DA-B119-4818-B38E-E0ECF644151C}"/>
              </a:ext>
            </a:extLst>
          </p:cNvPr>
          <p:cNvSpPr>
            <a:spLocks noGrp="1"/>
          </p:cNvSpPr>
          <p:nvPr/>
        </p:nvSpPr>
        <p:spPr>
          <a:xfrm>
            <a:off x="7010400" y="2276475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Consulta y filtrado de oportunidades TI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3676429-0CFE-49B4-943D-8976DBE2A00E}"/>
              </a:ext>
            </a:extLst>
          </p:cNvPr>
          <p:cNvSpPr>
            <a:spLocks noGrp="1"/>
          </p:cNvSpPr>
          <p:nvPr/>
        </p:nvSpPr>
        <p:spPr>
          <a:xfrm>
            <a:off x="6267450" y="2914650"/>
            <a:ext cx="49530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266C782-48C5-4F77-83E0-54D993E3695D}"/>
              </a:ext>
            </a:extLst>
          </p:cNvPr>
          <p:cNvSpPr>
            <a:spLocks noGrp="1"/>
          </p:cNvSpPr>
          <p:nvPr/>
        </p:nvSpPr>
        <p:spPr>
          <a:xfrm>
            <a:off x="609600" y="31623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7DE863D-D548-47E5-B6E1-6E3F318DF059}"/>
              </a:ext>
            </a:extLst>
          </p:cNvPr>
          <p:cNvSpPr>
            <a:spLocks noGrp="1"/>
          </p:cNvSpPr>
          <p:nvPr/>
        </p:nvSpPr>
        <p:spPr>
          <a:xfrm>
            <a:off x="1352550" y="316230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3DA675B-C543-4FBF-B20B-B4DC9207E1D0}"/>
              </a:ext>
            </a:extLst>
          </p:cNvPr>
          <p:cNvSpPr>
            <a:spLocks noGrp="1"/>
          </p:cNvSpPr>
          <p:nvPr/>
        </p:nvSpPr>
        <p:spPr>
          <a:xfrm>
            <a:off x="1352550" y="3629025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Indicadores y tendencias ejecutivas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811DD46-F9F1-401E-97A0-42909EBAEF69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49530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678240B-57EF-4F9E-BAEB-5302DCBF5F61}"/>
              </a:ext>
            </a:extLst>
          </p:cNvPr>
          <p:cNvSpPr>
            <a:spLocks noGrp="1"/>
          </p:cNvSpPr>
          <p:nvPr/>
        </p:nvSpPr>
        <p:spPr>
          <a:xfrm>
            <a:off x="6267450" y="31623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9EF14E2-8429-4C44-9C65-3C54461DAAD1}"/>
              </a:ext>
            </a:extLst>
          </p:cNvPr>
          <p:cNvSpPr>
            <a:spLocks noGrp="1"/>
          </p:cNvSpPr>
          <p:nvPr/>
        </p:nvSpPr>
        <p:spPr>
          <a:xfrm>
            <a:off x="7010400" y="316230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Análisis histórico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FC0043F-09C7-4428-90D6-CE4E617BFA57}"/>
              </a:ext>
            </a:extLst>
          </p:cNvPr>
          <p:cNvSpPr>
            <a:spLocks noGrp="1"/>
          </p:cNvSpPr>
          <p:nvPr/>
        </p:nvSpPr>
        <p:spPr>
          <a:xfrm>
            <a:off x="7010400" y="3629025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Compras, montos y comportamiento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6B8220C-A221-4A22-B630-71A8B6C4206E}"/>
              </a:ext>
            </a:extLst>
          </p:cNvPr>
          <p:cNvSpPr>
            <a:spLocks noGrp="1"/>
          </p:cNvSpPr>
          <p:nvPr/>
        </p:nvSpPr>
        <p:spPr>
          <a:xfrm>
            <a:off x="6267450" y="4267200"/>
            <a:ext cx="49530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D548D50-9778-4335-AB6D-9621D00ABC90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FC893E2-7FC6-4C1E-828D-632546ACF4C0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Recomendador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07E14BA-8B99-4CA4-AA09-145B9C03D953}"/>
              </a:ext>
            </a:extLst>
          </p:cNvPr>
          <p:cNvSpPr>
            <a:spLocks noGrp="1"/>
          </p:cNvSpPr>
          <p:nvPr/>
        </p:nvSpPr>
        <p:spPr>
          <a:xfrm>
            <a:off x="1352550" y="4981575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Ranking por compatibilidad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9B90A86-E74C-4A04-8694-57F318933762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49530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F8FBE79-DA1A-4F2E-9CA6-6B9D6F6D998B}"/>
              </a:ext>
            </a:extLst>
          </p:cNvPr>
          <p:cNvSpPr>
            <a:spLocks noGrp="1"/>
          </p:cNvSpPr>
          <p:nvPr/>
        </p:nvSpPr>
        <p:spPr>
          <a:xfrm>
            <a:off x="6267450" y="45148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FD9A5EB-DF01-4582-B440-6013FCF6F3C7}"/>
              </a:ext>
            </a:extLst>
          </p:cNvPr>
          <p:cNvSpPr>
            <a:spLocks noGrp="1"/>
          </p:cNvSpPr>
          <p:nvPr/>
        </p:nvSpPr>
        <p:spPr>
          <a:xfrm>
            <a:off x="7010400" y="45148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Reportes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84F39F9-109E-46A2-8D99-E637E335AEF7}"/>
              </a:ext>
            </a:extLst>
          </p:cNvPr>
          <p:cNvSpPr>
            <a:spLocks noGrp="1"/>
          </p:cNvSpPr>
          <p:nvPr/>
        </p:nvSpPr>
        <p:spPr>
          <a:xfrm>
            <a:off x="7010400" y="4981575"/>
            <a:ext cx="4095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Salidas resumidas para decisión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C2CADA7-BCEE-4F18-9B48-B26EB8024609}"/>
              </a:ext>
            </a:extLst>
          </p:cNvPr>
          <p:cNvSpPr>
            <a:spLocks noGrp="1"/>
          </p:cNvSpPr>
          <p:nvPr/>
        </p:nvSpPr>
        <p:spPr>
          <a:xfrm>
            <a:off x="6267450" y="5619750"/>
            <a:ext cx="49530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6378040-B3C8-45DC-A3D4-7A73E97A5049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1">
                <a:solidFill>
                  <a:srgbClr val="D99022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D99022"/>
                </a:solidFill>
                <a:latin typeface="Arial"/>
                <a:ea typeface="Arial"/>
                <a:cs typeface="Arial"/>
              </a:rPr>
              <a:t>Módulo predictivo básico: extensión dependiente de la calidad de los datos.</a:t>
            </a:r>
          </a:p>
        </p:txBody>
      </p:sp>
    </p:spTree>
    <p:extLst>
      <p:ext uri="{BB962C8B-B14F-4D97-AF65-F5344CB8AC3E}">
        <p14:creationId xmlns:p14="http://schemas.microsoft.com/office/powerpoint/2010/main" val="1236379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CF9B3A29-AEDF-44C4-8725-25B45E4FE4A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ARQUITECTURA CONCEPTUAL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70C641C-FDBD-4535-A368-4A591A459224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Una arquitectura modular y escalable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EB1BC6-9499-449D-A161-E72137726855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D6DF508-9615-4763-A09F-8F92F951A37C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57EC99A7-1CBE-41D8-B393-381B100D217F}"/>
              </a:ext>
            </a:extLst>
          </p:cNvPr>
          <p:cNvSpPr>
            <a:spLocks noGrp="1"/>
          </p:cNvSpPr>
          <p:nvPr/>
        </p:nvSpPr>
        <p:spPr>
          <a:xfrm>
            <a:off x="5867400" y="2543175"/>
            <a:ext cx="457200" cy="323850"/>
          </a:xfrm>
          <a:prstGeom prst="downArrow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46348991-FD8C-434D-B9B5-04D1CFA7681D}"/>
              </a:ext>
            </a:extLst>
          </p:cNvPr>
          <p:cNvSpPr>
            <a:spLocks noGrp="1"/>
          </p:cNvSpPr>
          <p:nvPr/>
        </p:nvSpPr>
        <p:spPr>
          <a:xfrm>
            <a:off x="5867400" y="3267075"/>
            <a:ext cx="457200" cy="323850"/>
          </a:xfrm>
          <a:prstGeom prst="downArrow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7" name="Flecha: hacia abajo 6">
            <a:extLst>
              <a:ext uri="{FF2B5EF4-FFF2-40B4-BE49-F238E27FC236}">
                <a16:creationId xmlns:a16="http://schemas.microsoft.com/office/drawing/2014/main" id="{70E74995-E670-46DF-9793-A4107879C5F4}"/>
              </a:ext>
            </a:extLst>
          </p:cNvPr>
          <p:cNvSpPr>
            <a:spLocks noGrp="1"/>
          </p:cNvSpPr>
          <p:nvPr/>
        </p:nvSpPr>
        <p:spPr>
          <a:xfrm>
            <a:off x="5867400" y="3990975"/>
            <a:ext cx="457200" cy="323850"/>
          </a:xfrm>
          <a:prstGeom prst="downArrow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8" name="Flecha: hacia abajo 7">
            <a:extLst>
              <a:ext uri="{FF2B5EF4-FFF2-40B4-BE49-F238E27FC236}">
                <a16:creationId xmlns:a16="http://schemas.microsoft.com/office/drawing/2014/main" id="{6E28D4DE-29B8-46D6-BB04-28C8D5AD01F5}"/>
              </a:ext>
            </a:extLst>
          </p:cNvPr>
          <p:cNvSpPr>
            <a:spLocks noGrp="1"/>
          </p:cNvSpPr>
          <p:nvPr/>
        </p:nvSpPr>
        <p:spPr>
          <a:xfrm>
            <a:off x="5867400" y="4714875"/>
            <a:ext cx="457200" cy="323850"/>
          </a:xfrm>
          <a:prstGeom prst="downArrow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84D1096-BFD7-4B8B-9FF3-C20937F12C37}"/>
              </a:ext>
            </a:extLst>
          </p:cNvPr>
          <p:cNvSpPr>
            <a:spLocks noGrp="1"/>
          </p:cNvSpPr>
          <p:nvPr/>
        </p:nvSpPr>
        <p:spPr>
          <a:xfrm>
            <a:off x="1657350" y="1752600"/>
            <a:ext cx="8877300" cy="552450"/>
          </a:xfrm>
          <a:prstGeom prst="rect">
            <a:avLst/>
          </a:prstGeom>
          <a:solidFill>
            <a:srgbClr val="EAF1F8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383E046-BE8C-44F6-8A1F-FC53C01DD3E3}"/>
              </a:ext>
            </a:extLst>
          </p:cNvPr>
          <p:cNvSpPr>
            <a:spLocks noGrp="1"/>
          </p:cNvSpPr>
          <p:nvPr/>
        </p:nvSpPr>
        <p:spPr>
          <a:xfrm>
            <a:off x="1943100" y="18859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Fuentes públicas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C2E374C-145F-4694-959F-FB1FA13FF430}"/>
              </a:ext>
            </a:extLst>
          </p:cNvPr>
          <p:cNvSpPr>
            <a:spLocks noGrp="1"/>
          </p:cNvSpPr>
          <p:nvPr/>
        </p:nvSpPr>
        <p:spPr>
          <a:xfrm>
            <a:off x="4762500" y="1895475"/>
            <a:ext cx="539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Licitaciones · adjudicaciones · órdenes de compra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5770BA2-10AE-4324-8D69-611B9758477C}"/>
              </a:ext>
            </a:extLst>
          </p:cNvPr>
          <p:cNvSpPr>
            <a:spLocks noGrp="1"/>
          </p:cNvSpPr>
          <p:nvPr/>
        </p:nvSpPr>
        <p:spPr>
          <a:xfrm>
            <a:off x="1657350" y="2552700"/>
            <a:ext cx="8877300" cy="552450"/>
          </a:xfrm>
          <a:prstGeom prst="rect">
            <a:avLst/>
          </a:prstGeom>
          <a:solidFill>
            <a:srgbClr val="DDF5F2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A711852-A8FB-4538-B0AD-1D9DCAA91AF2}"/>
              </a:ext>
            </a:extLst>
          </p:cNvPr>
          <p:cNvSpPr>
            <a:spLocks noGrp="1"/>
          </p:cNvSpPr>
          <p:nvPr/>
        </p:nvSpPr>
        <p:spPr>
          <a:xfrm>
            <a:off x="1943100" y="2686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Integración y calidad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8018B8C-A0DE-4487-800D-0F19CAA2C3D2}"/>
              </a:ext>
            </a:extLst>
          </p:cNvPr>
          <p:cNvSpPr>
            <a:spLocks noGrp="1"/>
          </p:cNvSpPr>
          <p:nvPr/>
        </p:nvSpPr>
        <p:spPr>
          <a:xfrm>
            <a:off x="4762500" y="2695575"/>
            <a:ext cx="539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Carga · limpieza · normalización · clasificación TI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E08E99D-FC24-4014-ADDC-82B1DB576DC0}"/>
              </a:ext>
            </a:extLst>
          </p:cNvPr>
          <p:cNvSpPr>
            <a:spLocks noGrp="1"/>
          </p:cNvSpPr>
          <p:nvPr/>
        </p:nvSpPr>
        <p:spPr>
          <a:xfrm>
            <a:off x="1657350" y="3352800"/>
            <a:ext cx="8877300" cy="552450"/>
          </a:xfrm>
          <a:prstGeom prst="rect">
            <a:avLst/>
          </a:prstGeom>
          <a:solidFill>
            <a:srgbClr val="EAF1F8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2604B9A-E1A1-44F8-9706-E9635F98D5C8}"/>
              </a:ext>
            </a:extLst>
          </p:cNvPr>
          <p:cNvSpPr>
            <a:spLocks noGrp="1"/>
          </p:cNvSpPr>
          <p:nvPr/>
        </p:nvSpPr>
        <p:spPr>
          <a:xfrm>
            <a:off x="1943100" y="34861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Datos estructurados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51C7C81-0A8A-46FA-9BB5-E2D36990BBE7}"/>
              </a:ext>
            </a:extLst>
          </p:cNvPr>
          <p:cNvSpPr>
            <a:spLocks noGrp="1"/>
          </p:cNvSpPr>
          <p:nvPr/>
        </p:nvSpPr>
        <p:spPr>
          <a:xfrm>
            <a:off x="4762500" y="3495675"/>
            <a:ext cx="539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Empresas · organismos · oportunidades · categorías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5F95E68-EE40-4C79-B3EC-AC93435920E1}"/>
              </a:ext>
            </a:extLst>
          </p:cNvPr>
          <p:cNvSpPr>
            <a:spLocks noGrp="1"/>
          </p:cNvSpPr>
          <p:nvPr/>
        </p:nvSpPr>
        <p:spPr>
          <a:xfrm>
            <a:off x="1657350" y="4152900"/>
            <a:ext cx="8877300" cy="552450"/>
          </a:xfrm>
          <a:prstGeom prst="rect">
            <a:avLst/>
          </a:prstGeom>
          <a:solidFill>
            <a:srgbClr val="DCEAF6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D1AD7C5-A3AF-47EA-82FC-D1B5BBFC97C7}"/>
              </a:ext>
            </a:extLst>
          </p:cNvPr>
          <p:cNvSpPr>
            <a:spLocks noGrp="1"/>
          </p:cNvSpPr>
          <p:nvPr/>
        </p:nvSpPr>
        <p:spPr>
          <a:xfrm>
            <a:off x="1943100" y="42862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Servicios y analítica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7929452-FB98-44D1-AD75-4856F40892FC}"/>
              </a:ext>
            </a:extLst>
          </p:cNvPr>
          <p:cNvSpPr>
            <a:spLocks noGrp="1"/>
          </p:cNvSpPr>
          <p:nvPr/>
        </p:nvSpPr>
        <p:spPr>
          <a:xfrm>
            <a:off x="4762500" y="4295775"/>
            <a:ext cx="539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API · indicadores · ranking · tendencias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80D857D-451C-421E-993B-A5E16D0A808D}"/>
              </a:ext>
            </a:extLst>
          </p:cNvPr>
          <p:cNvSpPr>
            <a:spLocks noGrp="1"/>
          </p:cNvSpPr>
          <p:nvPr/>
        </p:nvSpPr>
        <p:spPr>
          <a:xfrm>
            <a:off x="1657350" y="4953000"/>
            <a:ext cx="8877300" cy="552450"/>
          </a:xfrm>
          <a:prstGeom prst="rect">
            <a:avLst/>
          </a:prstGeom>
          <a:solidFill>
            <a:srgbClr val="0B3558"/>
          </a:solidFill>
          <a:ln w="9525">
            <a:solidFill>
              <a:srgbClr val="0B3558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81C14E1-2EA1-4B35-8D0C-DAEC89B44B56}"/>
              </a:ext>
            </a:extLst>
          </p:cNvPr>
          <p:cNvSpPr>
            <a:spLocks noGrp="1"/>
          </p:cNvSpPr>
          <p:nvPr/>
        </p:nvSpPr>
        <p:spPr>
          <a:xfrm>
            <a:off x="1943100" y="50863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Experiencia de usuario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883B330-009A-4943-9F82-BC34D03880C0}"/>
              </a:ext>
            </a:extLst>
          </p:cNvPr>
          <p:cNvSpPr>
            <a:spLocks noGrp="1"/>
          </p:cNvSpPr>
          <p:nvPr/>
        </p:nvSpPr>
        <p:spPr>
          <a:xfrm>
            <a:off x="4762500" y="5095875"/>
            <a:ext cx="539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613" b="0">
                <a:solidFill>
                  <a:srgbClr val="D6EAF5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D6EAF5"/>
                </a:solidFill>
                <a:latin typeface="Arial"/>
                <a:ea typeface="Arial"/>
                <a:cs typeface="Arial"/>
              </a:rPr>
              <a:t>Dashboard · filtros · reportes · administración</a:t>
            </a:r>
          </a:p>
        </p:txBody>
      </p:sp>
    </p:spTree>
    <p:extLst>
      <p:ext uri="{BB962C8B-B14F-4D97-AF65-F5344CB8AC3E}">
        <p14:creationId xmlns:p14="http://schemas.microsoft.com/office/powerpoint/2010/main" val="1856594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CDE197FF-42B8-42A2-A893-449C989CDFD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MARCO ACADÉMICO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F393A3B-6DE0-4EEF-9C9C-30B3824FEA0E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Problema, hipótesis y objetivos están alineados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CD69F5D-DF1C-4CCE-8953-625514098B01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848734D-6B7F-4853-82CC-B7554C347255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84E575C-DFD7-44FB-A03F-3373158FA7AB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56DA425-2842-484B-8053-D360E66C8561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3143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Dificultad para analizar y priorizar oportunidades TI en Mercado Público.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E46D50F-26DA-49C6-9969-64824E8D21FD}"/>
              </a:ext>
            </a:extLst>
          </p:cNvPr>
          <p:cNvSpPr>
            <a:spLocks noGrp="1"/>
          </p:cNvSpPr>
          <p:nvPr/>
        </p:nvSpPr>
        <p:spPr>
          <a:xfrm>
            <a:off x="3990975" y="1847850"/>
            <a:ext cx="19050" cy="25717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0BA154C-8003-48DD-ABBA-0DAD53E740CE}"/>
              </a:ext>
            </a:extLst>
          </p:cNvPr>
          <p:cNvSpPr>
            <a:spLocks noGrp="1"/>
          </p:cNvSpPr>
          <p:nvPr/>
        </p:nvSpPr>
        <p:spPr>
          <a:xfrm>
            <a:off x="4343400" y="1847850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HIPÓTESIS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5C86E27-0059-40BD-BC48-50AEC666047D}"/>
              </a:ext>
            </a:extLst>
          </p:cNvPr>
          <p:cNvSpPr>
            <a:spLocks noGrp="1"/>
          </p:cNvSpPr>
          <p:nvPr/>
        </p:nvSpPr>
        <p:spPr>
          <a:xfrm>
            <a:off x="4343400" y="2381250"/>
            <a:ext cx="3143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análisis de datos históricos y actuales permite identificar patrones y oportunidades relevantes.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EBDB31E-5AB1-4498-A9C7-E60F08E9D4C7}"/>
              </a:ext>
            </a:extLst>
          </p:cNvPr>
          <p:cNvSpPr>
            <a:spLocks noGrp="1"/>
          </p:cNvSpPr>
          <p:nvPr/>
        </p:nvSpPr>
        <p:spPr>
          <a:xfrm>
            <a:off x="7724775" y="1847850"/>
            <a:ext cx="19050" cy="25717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6EF20E6-06E1-4DB7-9F13-A9BA41C4B0E7}"/>
              </a:ext>
            </a:extLst>
          </p:cNvPr>
          <p:cNvSpPr>
            <a:spLocks noGrp="1"/>
          </p:cNvSpPr>
          <p:nvPr/>
        </p:nvSpPr>
        <p:spPr>
          <a:xfrm>
            <a:off x="8077200" y="1847850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PREGUNTA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FFE839F-8994-4F63-B0EB-0471174D7F9B}"/>
              </a:ext>
            </a:extLst>
          </p:cNvPr>
          <p:cNvSpPr>
            <a:spLocks noGrp="1"/>
          </p:cNvSpPr>
          <p:nvPr/>
        </p:nvSpPr>
        <p:spPr>
          <a:xfrm>
            <a:off x="8077200" y="2381250"/>
            <a:ext cx="3143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¿Cómo puede una plataforma basada en datos mejorar la identificación de oportunidades TI?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7F3C42E-6CFE-4A4A-BDE3-3844DB87483D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0972800" cy="952500"/>
          </a:xfrm>
          <a:prstGeom prst="rect">
            <a:avLst/>
          </a:prstGeom>
          <a:solidFill>
            <a:srgbClr val="0B3558"/>
          </a:solidFill>
          <a:ln w="0">
            <a:noFill/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985CF08-94C1-4F28-B46C-C00A5AD50EF4}"/>
              </a:ext>
            </a:extLst>
          </p:cNvPr>
          <p:cNvSpPr>
            <a:spLocks noGrp="1"/>
          </p:cNvSpPr>
          <p:nvPr/>
        </p:nvSpPr>
        <p:spPr>
          <a:xfrm>
            <a:off x="895350" y="50482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9FD8E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9FD8EF"/>
                </a:solidFill>
                <a:latin typeface="Arial"/>
                <a:ea typeface="Arial"/>
                <a:cs typeface="Arial"/>
              </a:rPr>
              <a:t>Objetivo general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E7211C5-2C15-4F68-91FB-E8F0AF138AB8}"/>
              </a:ext>
            </a:extLst>
          </p:cNvPr>
          <p:cNvSpPr>
            <a:spLocks noGrp="1"/>
          </p:cNvSpPr>
          <p:nvPr/>
        </p:nvSpPr>
        <p:spPr>
          <a:xfrm>
            <a:off x="2914650" y="5010150"/>
            <a:ext cx="8096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293"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Desarrollar una plataforma web que permita identificar, analizar y priorizar oportunidades de negocio en proyectos TI para empresas proveedoras del Estado.</a:t>
            </a:r>
          </a:p>
        </p:txBody>
      </p:sp>
    </p:spTree>
    <p:extLst>
      <p:ext uri="{BB962C8B-B14F-4D97-AF65-F5344CB8AC3E}">
        <p14:creationId xmlns:p14="http://schemas.microsoft.com/office/powerpoint/2010/main" val="1470623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676ABF46-EB6A-4E6B-A182-DF52DD6D883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OBJETIVOS ESPECÍFICOS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14BE8F1-F3DA-48D8-AE79-508371C07188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Cinco frentes orientan el desarrollo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9E6970A-B975-42D7-93C1-0D41794E54EA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2AAF23D-E269-47F6-9836-040DC095ABB9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DA3C582-B5DF-4ABE-9C90-1EF1BCD55061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01 · DATOS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BD0FE27-93C6-4FCB-AF13-A766EA380D6E}"/>
              </a:ext>
            </a:extLst>
          </p:cNvPr>
          <p:cNvSpPr>
            <a:spLocks noGrp="1"/>
          </p:cNvSpPr>
          <p:nvPr/>
        </p:nvSpPr>
        <p:spPr>
          <a:xfrm>
            <a:off x="3048000" y="1809750"/>
            <a:ext cx="7953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Analizar las fuentes disponibles y estructurar licitaciones, adjudicaciones y órdenes de compra.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417AD61-D1EA-4BD4-85BC-B66DBD0B5496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324759-3B20-491F-A4CA-9A315621E745}"/>
              </a:ext>
            </a:extLst>
          </p:cNvPr>
          <p:cNvSpPr>
            <a:spLocks noGrp="1"/>
          </p:cNvSpPr>
          <p:nvPr/>
        </p:nvSpPr>
        <p:spPr>
          <a:xfrm>
            <a:off x="666750" y="2638425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02 · ARQUITECTURA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30ED37F-C8DB-4F8C-A03C-65D99B1612E2}"/>
              </a:ext>
            </a:extLst>
          </p:cNvPr>
          <p:cNvSpPr>
            <a:spLocks noGrp="1"/>
          </p:cNvSpPr>
          <p:nvPr/>
        </p:nvSpPr>
        <p:spPr>
          <a:xfrm>
            <a:off x="3048000" y="2638425"/>
            <a:ext cx="7953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Diseñar la solución para capturar, procesar, almacenar y visualizar información relevante.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F2502B3-ACC7-4496-B139-CD65A9322ADF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5D34909-03DC-4C13-8B99-D742C07A6E67}"/>
              </a:ext>
            </a:extLst>
          </p:cNvPr>
          <p:cNvSpPr>
            <a:spLocks noGrp="1"/>
          </p:cNvSpPr>
          <p:nvPr/>
        </p:nvSpPr>
        <p:spPr>
          <a:xfrm>
            <a:off x="666750" y="34671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03 · EXPERIENCIA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7C7910D-9F17-4955-9C0A-9DBE71D77077}"/>
              </a:ext>
            </a:extLst>
          </p:cNvPr>
          <p:cNvSpPr>
            <a:spLocks noGrp="1"/>
          </p:cNvSpPr>
          <p:nvPr/>
        </p:nvSpPr>
        <p:spPr>
          <a:xfrm>
            <a:off x="3048000" y="3467100"/>
            <a:ext cx="7953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Implementar consultas, filtros y un dashboard ejecutivo para apoyar la decisión comercial.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A6956D6-09C8-45CB-93DB-D61364E9FEDB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C4350E4-15BE-4394-88FA-8BCAA406EB83}"/>
              </a:ext>
            </a:extLst>
          </p:cNvPr>
          <p:cNvSpPr>
            <a:spLocks noGrp="1"/>
          </p:cNvSpPr>
          <p:nvPr/>
        </p:nvSpPr>
        <p:spPr>
          <a:xfrm>
            <a:off x="666750" y="4295775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04 · INTELIGENCIA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07864A3-9A84-4B5C-A0C7-0FF994D886AC}"/>
              </a:ext>
            </a:extLst>
          </p:cNvPr>
          <p:cNvSpPr>
            <a:spLocks noGrp="1"/>
          </p:cNvSpPr>
          <p:nvPr/>
        </p:nvSpPr>
        <p:spPr>
          <a:xfrm>
            <a:off x="3048000" y="4295775"/>
            <a:ext cx="7953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Crear un ranking de oportunidades e identificar tendencias históricas de demanda.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5CAB473-87BD-4D16-9980-8080FEA950B7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E1ACA5C-D782-40B9-9E79-36759D884EC7}"/>
              </a:ext>
            </a:extLst>
          </p:cNvPr>
          <p:cNvSpPr>
            <a:spLocks noGrp="1"/>
          </p:cNvSpPr>
          <p:nvPr/>
        </p:nvSpPr>
        <p:spPr>
          <a:xfrm>
            <a:off x="666750" y="512445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05 · VALIDACIÓN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F25ED46-C352-4A0F-A73A-0C7A40DBC633}"/>
              </a:ext>
            </a:extLst>
          </p:cNvPr>
          <p:cNvSpPr>
            <a:spLocks noGrp="1"/>
          </p:cNvSpPr>
          <p:nvPr/>
        </p:nvSpPr>
        <p:spPr>
          <a:xfrm>
            <a:off x="3048000" y="5124450"/>
            <a:ext cx="7953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Evaluar la utilidad de la plataforma mediante casos de uso aplicados a empresas TI.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F14BB754-B579-4128-8323-25E6117EF6A8}"/>
              </a:ext>
            </a:extLst>
          </p:cNvPr>
          <p:cNvSpPr>
            <a:spLocks noGrp="1"/>
          </p:cNvSpPr>
          <p:nvPr/>
        </p:nvSpPr>
        <p:spPr>
          <a:xfrm>
            <a:off x="609600" y="5762625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2037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970292E3-58E0-4874-8C61-24CC7E354FB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METODOLOGÍA PROPUESTA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A0D4E33-7BD0-4FEF-832D-0CB67F35A78C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 ejecución iterativa reduce el riesgo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05623BD-60F7-44EC-96D2-F822FE55FB08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B2CBDC4-2A6B-4066-97E1-59594BA73B6A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64F67335-ACEE-4D1E-8B1B-7334523328AD}"/>
              </a:ext>
            </a:extLst>
          </p:cNvPr>
          <p:cNvSpPr>
            <a:spLocks noGrp="1"/>
          </p:cNvSpPr>
          <p:nvPr/>
        </p:nvSpPr>
        <p:spPr>
          <a:xfrm>
            <a:off x="2209800" y="2609850"/>
            <a:ext cx="590550" cy="304800"/>
          </a:xfrm>
          <a:prstGeom prst="rightArrow">
            <a:avLst/>
          </a:prstGeom>
          <a:solidFill>
            <a:srgbClr val="DDF5F2"/>
          </a:solidFill>
          <a:ln w="0">
            <a:noFill/>
            <a:prstDash val="solid"/>
          </a:ln>
        </p:spPr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09960531-6757-4DA9-89B3-4E23EA0994DD}"/>
              </a:ext>
            </a:extLst>
          </p:cNvPr>
          <p:cNvSpPr>
            <a:spLocks noGrp="1"/>
          </p:cNvSpPr>
          <p:nvPr/>
        </p:nvSpPr>
        <p:spPr>
          <a:xfrm>
            <a:off x="4400550" y="2609850"/>
            <a:ext cx="590550" cy="304800"/>
          </a:xfrm>
          <a:prstGeom prst="rightArrow">
            <a:avLst/>
          </a:prstGeom>
          <a:solidFill>
            <a:srgbClr val="DDF5F2"/>
          </a:solidFill>
          <a:ln w="0">
            <a:noFill/>
            <a:prstDash val="solid"/>
          </a:ln>
        </p:spPr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9C475D91-1049-447A-BCB0-FB399CA85EB2}"/>
              </a:ext>
            </a:extLst>
          </p:cNvPr>
          <p:cNvSpPr>
            <a:spLocks noGrp="1"/>
          </p:cNvSpPr>
          <p:nvPr/>
        </p:nvSpPr>
        <p:spPr>
          <a:xfrm>
            <a:off x="6591300" y="2609850"/>
            <a:ext cx="590550" cy="304800"/>
          </a:xfrm>
          <a:prstGeom prst="rightArrow">
            <a:avLst/>
          </a:prstGeom>
          <a:solidFill>
            <a:srgbClr val="DDF5F2"/>
          </a:solidFill>
          <a:ln w="0">
            <a:noFill/>
            <a:prstDash val="solid"/>
          </a:ln>
        </p:spPr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F4F9E3C5-117A-464E-BDB8-075B4B694EC7}"/>
              </a:ext>
            </a:extLst>
          </p:cNvPr>
          <p:cNvSpPr>
            <a:spLocks noGrp="1"/>
          </p:cNvSpPr>
          <p:nvPr/>
        </p:nvSpPr>
        <p:spPr>
          <a:xfrm>
            <a:off x="8782050" y="2609850"/>
            <a:ext cx="590550" cy="304800"/>
          </a:xfrm>
          <a:prstGeom prst="rightArrow">
            <a:avLst/>
          </a:prstGeom>
          <a:solidFill>
            <a:srgbClr val="DDF5F2"/>
          </a:solidFill>
          <a:ln w="0">
            <a:noFill/>
            <a:prstDash val="solid"/>
          </a:ln>
        </p:spPr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8ABBD6A-7E52-46FE-988E-A5EEA1360049}"/>
              </a:ext>
            </a:extLst>
          </p:cNvPr>
          <p:cNvSpPr>
            <a:spLocks noGrp="1"/>
          </p:cNvSpPr>
          <p:nvPr/>
        </p:nvSpPr>
        <p:spPr>
          <a:xfrm>
            <a:off x="1181100" y="1790700"/>
            <a:ext cx="438150" cy="438150"/>
          </a:xfrm>
          <a:prstGeom prst="ellipse">
            <a:avLst/>
          </a:prstGeom>
          <a:solidFill>
            <a:srgbClr val="1769AA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FABCEEA-1279-40A7-A343-2A656D58A3A5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Descubrir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E7343B1-23E0-48E5-B48A-A913F5CE4C95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1619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Fuentes, usuarios y criterios de éxito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1EA1FC2-83B7-43AA-8F1B-8C63009BCA34}"/>
              </a:ext>
            </a:extLst>
          </p:cNvPr>
          <p:cNvSpPr>
            <a:spLocks noGrp="1"/>
          </p:cNvSpPr>
          <p:nvPr/>
        </p:nvSpPr>
        <p:spPr>
          <a:xfrm>
            <a:off x="3371850" y="1790700"/>
            <a:ext cx="438150" cy="438150"/>
          </a:xfrm>
          <a:prstGeom prst="ellipse">
            <a:avLst/>
          </a:prstGeom>
          <a:solidFill>
            <a:srgbClr val="1769AA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7D47EBD-E243-48B4-A0B8-705C26F88E66}"/>
              </a:ext>
            </a:extLst>
          </p:cNvPr>
          <p:cNvSpPr>
            <a:spLocks noGrp="1"/>
          </p:cNvSpPr>
          <p:nvPr/>
        </p:nvSpPr>
        <p:spPr>
          <a:xfrm>
            <a:off x="2857500" y="24955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Diseñar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2264B32-59F4-4000-95DF-417647FBF1EB}"/>
              </a:ext>
            </a:extLst>
          </p:cNvPr>
          <p:cNvSpPr>
            <a:spLocks noGrp="1"/>
          </p:cNvSpPr>
          <p:nvPr/>
        </p:nvSpPr>
        <p:spPr>
          <a:xfrm>
            <a:off x="2857500" y="3181350"/>
            <a:ext cx="1619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Arquitectura, modelo de datos y prototipo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779356B3-A281-4BCF-B0F5-DFED3D1E42BF}"/>
              </a:ext>
            </a:extLst>
          </p:cNvPr>
          <p:cNvSpPr>
            <a:spLocks noGrp="1"/>
          </p:cNvSpPr>
          <p:nvPr/>
        </p:nvSpPr>
        <p:spPr>
          <a:xfrm>
            <a:off x="5562600" y="1790700"/>
            <a:ext cx="438150" cy="438150"/>
          </a:xfrm>
          <a:prstGeom prst="ellipse">
            <a:avLst/>
          </a:prstGeom>
          <a:solidFill>
            <a:srgbClr val="1769AA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3A34C79-0FCB-47A7-87AD-DE651529E75A}"/>
              </a:ext>
            </a:extLst>
          </p:cNvPr>
          <p:cNvSpPr>
            <a:spLocks noGrp="1"/>
          </p:cNvSpPr>
          <p:nvPr/>
        </p:nvSpPr>
        <p:spPr>
          <a:xfrm>
            <a:off x="5048250" y="24955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Construir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7FE9C7E-D2E0-4067-8330-281F62C98945}"/>
              </a:ext>
            </a:extLst>
          </p:cNvPr>
          <p:cNvSpPr>
            <a:spLocks noGrp="1"/>
          </p:cNvSpPr>
          <p:nvPr/>
        </p:nvSpPr>
        <p:spPr>
          <a:xfrm>
            <a:off x="5048250" y="3181350"/>
            <a:ext cx="1619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Módulos esenciales del MVP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0B93E24A-E15C-4545-9F48-6E914BDBACCB}"/>
              </a:ext>
            </a:extLst>
          </p:cNvPr>
          <p:cNvSpPr>
            <a:spLocks noGrp="1"/>
          </p:cNvSpPr>
          <p:nvPr/>
        </p:nvSpPr>
        <p:spPr>
          <a:xfrm>
            <a:off x="7753350" y="1790700"/>
            <a:ext cx="438150" cy="438150"/>
          </a:xfrm>
          <a:prstGeom prst="ellipse">
            <a:avLst/>
          </a:prstGeom>
          <a:solidFill>
            <a:srgbClr val="1769AA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DC4C78A-2202-43C3-A2FB-02324A1B3261}"/>
              </a:ext>
            </a:extLst>
          </p:cNvPr>
          <p:cNvSpPr>
            <a:spLocks noGrp="1"/>
          </p:cNvSpPr>
          <p:nvPr/>
        </p:nvSpPr>
        <p:spPr>
          <a:xfrm>
            <a:off x="7239000" y="24955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Analizar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FACEA36-58BA-4ACD-A460-A1EDAA7DF1B7}"/>
              </a:ext>
            </a:extLst>
          </p:cNvPr>
          <p:cNvSpPr>
            <a:spLocks noGrp="1"/>
          </p:cNvSpPr>
          <p:nvPr/>
        </p:nvSpPr>
        <p:spPr>
          <a:xfrm>
            <a:off x="7239000" y="3181350"/>
            <a:ext cx="1619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Indicadores, ranking y tendencias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74F77B23-DE90-41B2-AC81-C1645C16E353}"/>
              </a:ext>
            </a:extLst>
          </p:cNvPr>
          <p:cNvSpPr>
            <a:spLocks noGrp="1"/>
          </p:cNvSpPr>
          <p:nvPr/>
        </p:nvSpPr>
        <p:spPr>
          <a:xfrm>
            <a:off x="9944100" y="1790700"/>
            <a:ext cx="438150" cy="438150"/>
          </a:xfrm>
          <a:prstGeom prst="ellipse">
            <a:avLst/>
          </a:prstGeom>
          <a:solidFill>
            <a:srgbClr val="19A7A0"/>
          </a:solidFill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669E74C-8267-4E77-BAD6-67C30CCDFF65}"/>
              </a:ext>
            </a:extLst>
          </p:cNvPr>
          <p:cNvSpPr>
            <a:spLocks noGrp="1"/>
          </p:cNvSpPr>
          <p:nvPr/>
        </p:nvSpPr>
        <p:spPr>
          <a:xfrm>
            <a:off x="9429750" y="24955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382B677-B05A-4ACF-9D01-B87108D90404}"/>
              </a:ext>
            </a:extLst>
          </p:cNvPr>
          <p:cNvSpPr>
            <a:spLocks noGrp="1"/>
          </p:cNvSpPr>
          <p:nvPr/>
        </p:nvSpPr>
        <p:spPr>
          <a:xfrm>
            <a:off x="9429750" y="3181350"/>
            <a:ext cx="1619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Casos de uso, métricas y retroalimentación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7F5C568-15D6-45C7-A037-D35B75A314A3}"/>
              </a:ext>
            </a:extLst>
          </p:cNvPr>
          <p:cNvSpPr>
            <a:spLocks noGrp="1"/>
          </p:cNvSpPr>
          <p:nvPr/>
        </p:nvSpPr>
        <p:spPr>
          <a:xfrm>
            <a:off x="1257300" y="4762500"/>
            <a:ext cx="96774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7EE51D1-BAD3-4053-9C6E-1AFA5E374B8E}"/>
              </a:ext>
            </a:extLst>
          </p:cNvPr>
          <p:cNvSpPr>
            <a:spLocks noGrp="1"/>
          </p:cNvSpPr>
          <p:nvPr/>
        </p:nvSpPr>
        <p:spPr>
          <a:xfrm>
            <a:off x="1562100" y="49530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Validación propuesta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251510B-9D0F-4DE5-AAC0-D9E39C044E2B}"/>
              </a:ext>
            </a:extLst>
          </p:cNvPr>
          <p:cNvSpPr>
            <a:spLocks noGrp="1"/>
          </p:cNvSpPr>
          <p:nvPr/>
        </p:nvSpPr>
        <p:spPr>
          <a:xfrm>
            <a:off x="3905250" y="4953000"/>
            <a:ext cx="666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703"/>
          </a:bodyPr>
          <a:lstStyle/>
          <a:p>
            <a:pPr algn="r">
              <a:lnSpc>
                <a:spcPct val="105000"/>
              </a:lnSpc>
              <a:buNone/>
              <a:defRPr sz="1575" b="1">
                <a:solidFill>
                  <a:srgbClr val="0B355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3558"/>
                </a:solidFill>
                <a:latin typeface="Arial"/>
                <a:ea typeface="Arial"/>
                <a:cs typeface="Arial"/>
              </a:rPr>
              <a:t>Tiempo de búsqueda · pertinencia del ranking · utilidad percibida · cobertura de oportunidades relevantes</a:t>
            </a:r>
          </a:p>
        </p:txBody>
      </p:sp>
    </p:spTree>
    <p:extLst>
      <p:ext uri="{BB962C8B-B14F-4D97-AF65-F5344CB8AC3E}">
        <p14:creationId xmlns:p14="http://schemas.microsoft.com/office/powerpoint/2010/main" val="676844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F82E904F-FF9D-4032-B6ED-403DA9993A6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RIESGOS Y RESPUESTAS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E4D9F48-849A-457B-9259-C920FBC8B253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Los riesgos principales son mitigables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6B8BDD4-1B6A-42F0-B04E-23BAFC7CDE0A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C8308DD-3338-473F-A763-960C65816980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B347933-193B-4668-8C13-7D785F6132A4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C751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5146"/>
                </a:solidFill>
                <a:latin typeface="Arial"/>
                <a:ea typeface="Arial"/>
                <a:cs typeface="Arial"/>
              </a:rPr>
              <a:t>RIESGO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0417E3E-9D77-4401-B6D1-A90F54A51EFC}"/>
              </a:ext>
            </a:extLst>
          </p:cNvPr>
          <p:cNvSpPr>
            <a:spLocks noGrp="1"/>
          </p:cNvSpPr>
          <p:nvPr/>
        </p:nvSpPr>
        <p:spPr>
          <a:xfrm>
            <a:off x="5238750" y="179070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RESPUESTA PREVENTIVA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408CA09-2B60-4334-B689-168A166EBA10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Clasificación TI imprecisa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F80EC3E-5AE5-4372-8D92-16627BA6B0A0}"/>
              </a:ext>
            </a:extLst>
          </p:cNvPr>
          <p:cNvSpPr>
            <a:spLocks noGrp="1"/>
          </p:cNvSpPr>
          <p:nvPr/>
        </p:nvSpPr>
        <p:spPr>
          <a:xfrm>
            <a:off x="5238750" y="2209800"/>
            <a:ext cx="571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Reglas claras, categorías y revisión de palabras clave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E038AB7-7AF1-49EA-9A7D-67423022AADB}"/>
              </a:ext>
            </a:extLst>
          </p:cNvPr>
          <p:cNvSpPr>
            <a:spLocks noGrp="1"/>
          </p:cNvSpPr>
          <p:nvPr/>
        </p:nvSpPr>
        <p:spPr>
          <a:xfrm>
            <a:off x="609600" y="27051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AD68D67-745A-4F60-A7A4-C67A4F092AC5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Calidad variable de datos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3E22270-6A4B-40F0-B5D4-D8DE278B13DD}"/>
              </a:ext>
            </a:extLst>
          </p:cNvPr>
          <p:cNvSpPr>
            <a:spLocks noGrp="1"/>
          </p:cNvSpPr>
          <p:nvPr/>
        </p:nvSpPr>
        <p:spPr>
          <a:xfrm>
            <a:off x="5238750" y="2838450"/>
            <a:ext cx="571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Limpieza, normalización y controles de consistencia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3E28C65-3391-46B7-9693-D617FB582270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5123627-4F8C-469D-B249-7EFC1E60A6DF}"/>
              </a:ext>
            </a:extLst>
          </p:cNvPr>
          <p:cNvSpPr>
            <a:spLocks noGrp="1"/>
          </p:cNvSpPr>
          <p:nvPr/>
        </p:nvSpPr>
        <p:spPr>
          <a:xfrm>
            <a:off x="685800" y="346710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Exceso de funcionalidades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5E84644-B2E3-415F-BEC4-E3E36B298A26}"/>
              </a:ext>
            </a:extLst>
          </p:cNvPr>
          <p:cNvSpPr>
            <a:spLocks noGrp="1"/>
          </p:cNvSpPr>
          <p:nvPr/>
        </p:nvSpPr>
        <p:spPr>
          <a:xfrm>
            <a:off x="5238750" y="3467100"/>
            <a:ext cx="571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Priorización del núcleo MVP y entregas incrementales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5A6FE69-EF90-4D24-AB0C-566AF5963A10}"/>
              </a:ext>
            </a:extLst>
          </p:cNvPr>
          <p:cNvSpPr>
            <a:spLocks noGrp="1"/>
          </p:cNvSpPr>
          <p:nvPr/>
        </p:nvSpPr>
        <p:spPr>
          <a:xfrm>
            <a:off x="609600" y="39624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334289B-B0E5-4B50-8711-9980EBD47371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Predicción compleja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0DB03E2-8BA9-4BB0-9779-AFC85268A4A4}"/>
              </a:ext>
            </a:extLst>
          </p:cNvPr>
          <p:cNvSpPr>
            <a:spLocks noGrp="1"/>
          </p:cNvSpPr>
          <p:nvPr/>
        </p:nvSpPr>
        <p:spPr>
          <a:xfrm>
            <a:off x="5238750" y="4095750"/>
            <a:ext cx="571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Comenzar con tendencias descriptivas y series simples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F43D8BA-20ED-48E8-ACE0-2F74AC760DA4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5717700-2560-47F7-BDFA-F171EAE09CB2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Baja adopción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95384D0-5953-4603-89EC-7F2C5E92AEE7}"/>
              </a:ext>
            </a:extLst>
          </p:cNvPr>
          <p:cNvSpPr>
            <a:spLocks noGrp="1"/>
          </p:cNvSpPr>
          <p:nvPr/>
        </p:nvSpPr>
        <p:spPr>
          <a:xfrm>
            <a:off x="5238750" y="4724400"/>
            <a:ext cx="571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Validar con usuarios y casos de uso reales del sector TI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FB79E06-FA92-42ED-B2D2-2163274E53BC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ECB8F4F-C881-40DB-81BF-9AF7B3DBA1A4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Dependencia externa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A830715-7A61-44A4-860F-D15799D01A91}"/>
              </a:ext>
            </a:extLst>
          </p:cNvPr>
          <p:cNvSpPr>
            <a:spLocks noGrp="1"/>
          </p:cNvSpPr>
          <p:nvPr/>
        </p:nvSpPr>
        <p:spPr>
          <a:xfrm>
            <a:off x="5238750" y="5353050"/>
            <a:ext cx="571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Carga controlada, respaldo y monitoreo de disponibilidad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2630422-D267-43DC-AC42-71F21EE7AF4B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10972800" cy="9525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1725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F2CBB967-E6FE-416A-8584-083FD2F3E34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3238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ACEE0A8-B7A9-4732-ABDD-3F0016EAF4D9}"/>
              </a:ext>
            </a:extLst>
          </p:cNvPr>
          <p:cNvSpPr>
            <a:spLocks noGrp="1"/>
          </p:cNvSpPr>
          <p:nvPr/>
        </p:nvSpPr>
        <p:spPr>
          <a:xfrm>
            <a:off x="609600" y="638175"/>
            <a:ext cx="1095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Del MVP TI a un SaaS multisectorial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38D5F79-8318-4851-B060-3DC8EF31B314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0C61A5-E591-44C7-8767-F79364BE977E}"/>
              </a:ext>
            </a:extLst>
          </p:cNvPr>
          <p:cNvSpPr>
            <a:spLocks noGrp="1"/>
          </p:cNvSpPr>
          <p:nvPr/>
        </p:nvSpPr>
        <p:spPr>
          <a:xfrm>
            <a:off x="11144250" y="6429375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050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6C2E3B3-7BF4-40D0-BB3A-FA31C57706F0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9620250" cy="38100"/>
          </a:xfrm>
          <a:prstGeom prst="rect">
            <a:avLst/>
          </a:prstGeom>
          <a:solidFill>
            <a:srgbClr val="D9E2EC"/>
          </a:solidFill>
          <a:ln w="0">
            <a:noFill/>
            <a:prstDash val="solid"/>
          </a:ln>
        </p:spPr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0FB64D0-0E10-4A01-BA7B-4121AF5B50EB}"/>
              </a:ext>
            </a:extLst>
          </p:cNvPr>
          <p:cNvSpPr>
            <a:spLocks noGrp="1"/>
          </p:cNvSpPr>
          <p:nvPr/>
        </p:nvSpPr>
        <p:spPr>
          <a:xfrm>
            <a:off x="1562100" y="2828925"/>
            <a:ext cx="476250" cy="476250"/>
          </a:xfrm>
          <a:prstGeom prst="ellipse">
            <a:avLst/>
          </a:prstGeom>
          <a:solidFill>
            <a:srgbClr val="19A7A0"/>
          </a:solidFill>
          <a:ln w="0">
            <a:noFill/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8155039-87C9-4626-8D5A-920AE3020E1A}"/>
              </a:ext>
            </a:extLst>
          </p:cNvPr>
          <p:cNvSpPr>
            <a:spLocks noGrp="1"/>
          </p:cNvSpPr>
          <p:nvPr/>
        </p:nvSpPr>
        <p:spPr>
          <a:xfrm>
            <a:off x="1590675" y="29432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256"/>
          </a:bodyPr>
          <a:lstStyle/>
          <a:p>
            <a:pPr algn="ctr">
              <a:lnSpc>
                <a:spcPct val="105000"/>
              </a:lnSpc>
              <a:buNone/>
              <a:defRPr sz="16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8925E62-4229-4DC5-99C9-8E1FE81395DD}"/>
              </a:ext>
            </a:extLst>
          </p:cNvPr>
          <p:cNvSpPr>
            <a:spLocks noGrp="1"/>
          </p:cNvSpPr>
          <p:nvPr/>
        </p:nvSpPr>
        <p:spPr>
          <a:xfrm>
            <a:off x="857250" y="192405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MVP TI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534B1C2-C86C-4EB5-9F71-4DFB627D9301}"/>
              </a:ext>
            </a:extLst>
          </p:cNvPr>
          <p:cNvSpPr>
            <a:spLocks noGrp="1"/>
          </p:cNvSpPr>
          <p:nvPr/>
        </p:nvSpPr>
        <p:spPr>
          <a:xfrm>
            <a:off x="857250" y="3638550"/>
            <a:ext cx="18859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Validar análisis y priorización de oportunidades tecnológicas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A251E68-2456-4CC1-95C7-1EB40AA9CE62}"/>
              </a:ext>
            </a:extLst>
          </p:cNvPr>
          <p:cNvSpPr>
            <a:spLocks noGrp="1"/>
          </p:cNvSpPr>
          <p:nvPr/>
        </p:nvSpPr>
        <p:spPr>
          <a:xfrm>
            <a:off x="4343400" y="2828925"/>
            <a:ext cx="476250" cy="476250"/>
          </a:xfrm>
          <a:prstGeom prst="ellipse">
            <a:avLst/>
          </a:prstGeom>
          <a:solidFill>
            <a:srgbClr val="1769AA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E235AEB-5783-4298-9072-36501344EC45}"/>
              </a:ext>
            </a:extLst>
          </p:cNvPr>
          <p:cNvSpPr>
            <a:spLocks noGrp="1"/>
          </p:cNvSpPr>
          <p:nvPr/>
        </p:nvSpPr>
        <p:spPr>
          <a:xfrm>
            <a:off x="4371975" y="29432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256"/>
          </a:bodyPr>
          <a:lstStyle/>
          <a:p>
            <a:pPr algn="ctr">
              <a:lnSpc>
                <a:spcPct val="105000"/>
              </a:lnSpc>
              <a:buNone/>
              <a:defRPr sz="16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93FC1D0-6228-4CCA-AFC4-B5D09C2ECA01}"/>
              </a:ext>
            </a:extLst>
          </p:cNvPr>
          <p:cNvSpPr>
            <a:spLocks noGrp="1"/>
          </p:cNvSpPr>
          <p:nvPr/>
        </p:nvSpPr>
        <p:spPr>
          <a:xfrm>
            <a:off x="3638550" y="192405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Multisectorial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88949A7-7524-464D-B9CA-89954813B280}"/>
              </a:ext>
            </a:extLst>
          </p:cNvPr>
          <p:cNvSpPr>
            <a:spLocks noGrp="1"/>
          </p:cNvSpPr>
          <p:nvPr/>
        </p:nvSpPr>
        <p:spPr>
          <a:xfrm>
            <a:off x="3638550" y="3638550"/>
            <a:ext cx="18859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Incorporar nuevos rubros y categorías comerciales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F93E3A1-EFC4-4875-857A-28A83B5BD3D9}"/>
              </a:ext>
            </a:extLst>
          </p:cNvPr>
          <p:cNvSpPr>
            <a:spLocks noGrp="1"/>
          </p:cNvSpPr>
          <p:nvPr/>
        </p:nvSpPr>
        <p:spPr>
          <a:xfrm>
            <a:off x="7124700" y="2828925"/>
            <a:ext cx="476250" cy="476250"/>
          </a:xfrm>
          <a:prstGeom prst="ellipse">
            <a:avLst/>
          </a:prstGeom>
          <a:solidFill>
            <a:srgbClr val="1769AA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1391040-673C-4564-8C2B-66149910D153}"/>
              </a:ext>
            </a:extLst>
          </p:cNvPr>
          <p:cNvSpPr>
            <a:spLocks noGrp="1"/>
          </p:cNvSpPr>
          <p:nvPr/>
        </p:nvSpPr>
        <p:spPr>
          <a:xfrm>
            <a:off x="7153275" y="29432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256"/>
          </a:bodyPr>
          <a:lstStyle/>
          <a:p>
            <a:pPr algn="ctr">
              <a:lnSpc>
                <a:spcPct val="105000"/>
              </a:lnSpc>
              <a:buNone/>
              <a:defRPr sz="16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F327AA1-403F-415B-82CA-F34BD5308337}"/>
              </a:ext>
            </a:extLst>
          </p:cNvPr>
          <p:cNvSpPr>
            <a:spLocks noGrp="1"/>
          </p:cNvSpPr>
          <p:nvPr/>
        </p:nvSpPr>
        <p:spPr>
          <a:xfrm>
            <a:off x="6419850" y="192405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Comercial SaaS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519DC96-4DCF-4D1C-A7A2-4C798578B2D8}"/>
              </a:ext>
            </a:extLst>
          </p:cNvPr>
          <p:cNvSpPr>
            <a:spLocks noGrp="1"/>
          </p:cNvSpPr>
          <p:nvPr/>
        </p:nvSpPr>
        <p:spPr>
          <a:xfrm>
            <a:off x="6419850" y="3638550"/>
            <a:ext cx="18859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Planes, multiusuario, alertas y pipeline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F965E95-FEF4-473D-B5D0-8BE4E6446057}"/>
              </a:ext>
            </a:extLst>
          </p:cNvPr>
          <p:cNvSpPr>
            <a:spLocks noGrp="1"/>
          </p:cNvSpPr>
          <p:nvPr/>
        </p:nvSpPr>
        <p:spPr>
          <a:xfrm>
            <a:off x="9906000" y="2828925"/>
            <a:ext cx="476250" cy="476250"/>
          </a:xfrm>
          <a:prstGeom prst="ellipse">
            <a:avLst/>
          </a:prstGeom>
          <a:solidFill>
            <a:srgbClr val="1769AA"/>
          </a:solidFill>
          <a:ln w="0">
            <a:noFill/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2E3BD55-B4C4-4FAE-B413-2E413B951185}"/>
              </a:ext>
            </a:extLst>
          </p:cNvPr>
          <p:cNvSpPr>
            <a:spLocks noGrp="1"/>
          </p:cNvSpPr>
          <p:nvPr/>
        </p:nvSpPr>
        <p:spPr>
          <a:xfrm>
            <a:off x="9934575" y="29432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256"/>
          </a:bodyPr>
          <a:lstStyle/>
          <a:p>
            <a:pPr algn="ctr">
              <a:lnSpc>
                <a:spcPct val="105000"/>
              </a:lnSpc>
              <a:buNone/>
              <a:defRPr sz="161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CD45CC-68EE-4640-9649-9E9D381DA089}"/>
              </a:ext>
            </a:extLst>
          </p:cNvPr>
          <p:cNvSpPr>
            <a:spLocks noGrp="1"/>
          </p:cNvSpPr>
          <p:nvPr/>
        </p:nvSpPr>
        <p:spPr>
          <a:xfrm>
            <a:off x="9201150" y="192405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186"/>
          </a:bodyPr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IA e integraciones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613620D-17A9-4B10-AD11-E82427AA8A83}"/>
              </a:ext>
            </a:extLst>
          </p:cNvPr>
          <p:cNvSpPr>
            <a:spLocks noGrp="1"/>
          </p:cNvSpPr>
          <p:nvPr/>
        </p:nvSpPr>
        <p:spPr>
          <a:xfrm>
            <a:off x="9201150" y="3638550"/>
            <a:ext cx="18859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613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CRM, API, automatización y modelos avanzados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45A5111-80C4-426C-BF2C-035CEA630C86}"/>
              </a:ext>
            </a:extLst>
          </p:cNvPr>
          <p:cNvSpPr>
            <a:spLocks noGrp="1"/>
          </p:cNvSpPr>
          <p:nvPr/>
        </p:nvSpPr>
        <p:spPr>
          <a:xfrm>
            <a:off x="2095500" y="5333999"/>
            <a:ext cx="8001000" cy="885825"/>
          </a:xfrm>
          <a:prstGeom prst="rect">
            <a:avLst/>
          </a:prstGeom>
          <a:solidFill>
            <a:srgbClr val="0B3558"/>
          </a:solidFill>
          <a:ln w="0">
            <a:noFill/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F6FC772F-42B6-4428-A879-30702D181A2D}"/>
              </a:ext>
            </a:extLst>
          </p:cNvPr>
          <p:cNvSpPr>
            <a:spLocks noGrp="1"/>
          </p:cNvSpPr>
          <p:nvPr/>
        </p:nvSpPr>
        <p:spPr>
          <a:xfrm>
            <a:off x="2381250" y="5476875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940"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</a:t>
            </a:r>
            <a:r>
              <a:rPr sz="157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arquitectura</a:t>
            </a:r>
            <a:r>
              <a:rPr sz="15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inicial</a:t>
            </a:r>
            <a:r>
              <a:rPr sz="15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debe</a:t>
            </a:r>
            <a:r>
              <a:rPr sz="15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permitir</a:t>
            </a:r>
            <a:r>
              <a:rPr sz="15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crecer</a:t>
            </a:r>
            <a:r>
              <a:rPr sz="15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sin </a:t>
            </a:r>
            <a:r>
              <a:rPr sz="157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rehacer</a:t>
            </a:r>
            <a:r>
              <a:rPr sz="15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completamente</a:t>
            </a:r>
            <a:r>
              <a:rPr sz="15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la </a:t>
            </a:r>
            <a:r>
              <a:rPr sz="1575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solución</a:t>
            </a:r>
            <a:r>
              <a:rPr sz="15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3919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5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02C746BD-C77A-454C-B85D-72038D54FB71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1">
                <a:solidFill>
                  <a:srgbClr val="9FD8EF"/>
                </a:solidFill>
                <a:latin typeface="Arial"/>
                <a:ea typeface="Arial"/>
                <a:cs typeface="Arial"/>
              </a:defRPr>
            </a:pPr>
            <a:r>
              <a:rPr sz="1613" b="1">
                <a:solidFill>
                  <a:srgbClr val="9FD8EF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2589F8A-477D-4227-9647-8B2CA7AFF70A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8858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GovMarket Analytics es un proyecto viable porque integra software, datos y una necesidad comercial concreta.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93B8B26-EF25-4778-8B8E-199B72C07E5D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Académico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39C5BEC-7BAF-4326-9261-68385C793F6A}"/>
              </a:ext>
            </a:extLst>
          </p:cNvPr>
          <p:cNvSpPr>
            <a:spLocks noGrp="1"/>
          </p:cNvSpPr>
          <p:nvPr/>
        </p:nvSpPr>
        <p:spPr>
          <a:xfrm>
            <a:off x="666750" y="4305300"/>
            <a:ext cx="304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D6EAF5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D6EAF5"/>
                </a:solidFill>
                <a:latin typeface="Arial"/>
                <a:ea typeface="Arial"/>
                <a:cs typeface="Arial"/>
              </a:rPr>
              <a:t>Integra ingeniería de software, bases de datos, analítica y validación.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2597B9E-FB26-4096-84B2-2C5D61DBA475}"/>
              </a:ext>
            </a:extLst>
          </p:cNvPr>
          <p:cNvSpPr>
            <a:spLocks noGrp="1"/>
          </p:cNvSpPr>
          <p:nvPr/>
        </p:nvSpPr>
        <p:spPr>
          <a:xfrm>
            <a:off x="4343400" y="38576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Técnico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5210A4B-1763-4C8D-9864-EE90D364AC4F}"/>
              </a:ext>
            </a:extLst>
          </p:cNvPr>
          <p:cNvSpPr>
            <a:spLocks noGrp="1"/>
          </p:cNvSpPr>
          <p:nvPr/>
        </p:nvSpPr>
        <p:spPr>
          <a:xfrm>
            <a:off x="4343400" y="4305300"/>
            <a:ext cx="304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D6EAF5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D6EAF5"/>
                </a:solidFill>
                <a:latin typeface="Arial"/>
                <a:ea typeface="Arial"/>
                <a:cs typeface="Arial"/>
              </a:rPr>
              <a:t>Puede construirse de forma modular mediante un MVP controlado.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1395207-6CEC-4119-B38E-5F859A20312B}"/>
              </a:ext>
            </a:extLst>
          </p:cNvPr>
          <p:cNvSpPr>
            <a:spLocks noGrp="1"/>
          </p:cNvSpPr>
          <p:nvPr/>
        </p:nvSpPr>
        <p:spPr>
          <a:xfrm>
            <a:off x="8020050" y="38576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Comercial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4CC3263-EFBE-4971-911F-36C4AA71C2B7}"/>
              </a:ext>
            </a:extLst>
          </p:cNvPr>
          <p:cNvSpPr>
            <a:spLocks noGrp="1"/>
          </p:cNvSpPr>
          <p:nvPr/>
        </p:nvSpPr>
        <p:spPr>
          <a:xfrm>
            <a:off x="8020050" y="4305300"/>
            <a:ext cx="304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13" b="0">
                <a:solidFill>
                  <a:srgbClr val="D6EAF5"/>
                </a:solidFill>
                <a:latin typeface="Arial"/>
                <a:ea typeface="Arial"/>
                <a:cs typeface="Arial"/>
              </a:defRPr>
            </a:pPr>
            <a:r>
              <a:rPr sz="1613" b="0">
                <a:solidFill>
                  <a:srgbClr val="D6EAF5"/>
                </a:solidFill>
                <a:latin typeface="Arial"/>
                <a:ea typeface="Arial"/>
                <a:cs typeface="Arial"/>
              </a:rPr>
              <a:t>Responde a la necesidad de empresas que desean vender al Estado.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2723594-BEBB-4869-9A6C-BE01F19940FD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858500" cy="19050"/>
          </a:xfrm>
          <a:prstGeom prst="rect">
            <a:avLst/>
          </a:prstGeom>
          <a:solidFill>
            <a:srgbClr val="3B6482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9186E38-B7C1-4FC1-BB38-54E8DB8D4DED}"/>
              </a:ext>
            </a:extLst>
          </p:cNvPr>
          <p:cNvSpPr>
            <a:spLocks noGrp="1"/>
          </p:cNvSpPr>
          <p:nvPr/>
        </p:nvSpPr>
        <p:spPr>
          <a:xfrm>
            <a:off x="666750" y="6000750"/>
            <a:ext cx="895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Siguiente decisión: validar fuentes de datos, usuarios y métricas del MVP.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D9F058-1189-4599-9914-20C8FFB97F07}"/>
              </a:ext>
            </a:extLst>
          </p:cNvPr>
          <p:cNvSpPr>
            <a:spLocks noGrp="1"/>
          </p:cNvSpPr>
          <p:nvPr/>
        </p:nvSpPr>
        <p:spPr>
          <a:xfrm>
            <a:off x="10001250" y="60007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5000"/>
              </a:lnSpc>
              <a:buNone/>
              <a:defRPr sz="1725" b="1">
                <a:solidFill>
                  <a:srgbClr val="19A7A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A7A0"/>
                </a:solidFill>
                <a:latin typeface="Arial"/>
                <a:ea typeface="Arial"/>
                <a:cs typeface="Arial"/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156954734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2194</Words>
  <Application>Microsoft Office PowerPoint</Application>
  <DocSecurity>0</DocSecurity>
  <PresentationFormat>Panorámica</PresentationFormat>
  <Paragraphs>360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SSDD</cp:lastModifiedBy>
  <cp:revision>1</cp:revision>
  <dcterms:created xsi:type="dcterms:W3CDTF">2026-08-22T14:29:18Z</dcterms:created>
  <dcterms:modified xsi:type="dcterms:W3CDTF">2026-08-22T14:41:31Z</dcterms:modified>
</cp:coreProperties>
</file>